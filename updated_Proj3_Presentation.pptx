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sldIdLst>
    <p:sldId id="258" r:id="rId2"/>
    <p:sldId id="260" r:id="rId3"/>
    <p:sldId id="262" r:id="rId4"/>
    <p:sldId id="278" r:id="rId5"/>
    <p:sldId id="264" r:id="rId6"/>
    <p:sldId id="266" r:id="rId7"/>
    <p:sldId id="268" r:id="rId8"/>
    <p:sldId id="277" r:id="rId9"/>
    <p:sldId id="279" r:id="rId10"/>
    <p:sldId id="280" r:id="rId11"/>
    <p:sldId id="275" r:id="rId12"/>
    <p:sldId id="27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97"/>
    <p:restoredTop sz="61275"/>
  </p:normalViewPr>
  <p:slideViewPr>
    <p:cSldViewPr snapToGrid="0">
      <p:cViewPr varScale="1">
        <p:scale>
          <a:sx n="65" d="100"/>
          <a:sy n="65" d="100"/>
        </p:scale>
        <p:origin x="228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384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everyone. We're Model Citizens — Neil Parikh, Shaina Banduri, and Nishana Dahal — and today we're presenting Project 3 for DS 4002.</a:t>
            </a:r>
            <a:br/>
            <a:br/>
            <a:r>
              <a:t>Our project is about using deep learning to classify blood cell images as either leukemic or normal. Before we jump in, here's a quick roadmap of what we'll cover: we'll start with our motivation, walk through the dataset, explain our full analysis pipeline, highlight one tricky decision we had to make, discuss how we've thought about bias and uncertainty, and then share our results and conclusions. We'll wrap up with next steps and take any questions at the end.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why does this problem matter?</a:t>
            </a:r>
            <a:br>
              <a:rPr dirty="0"/>
            </a:br>
            <a:br>
              <a:rPr dirty="0"/>
            </a:br>
            <a:r>
              <a:rPr dirty="0"/>
              <a:t>Acute Lymphoblastic Leukemia — ALL — is the most common cancer in children, accounting for about 25% of all pediatric cancers, with over 3,000 new cases diagnosed in the U.S. each year. Early, accurate diagnosis is critical because it directly affects treatment outcomes.</a:t>
            </a:r>
            <a:br>
              <a:rPr dirty="0"/>
            </a:br>
            <a:br>
              <a:rPr dirty="0"/>
            </a:br>
            <a:r>
              <a:rPr dirty="0"/>
              <a:t>The catch is that right now, diagnosis relies on expert pathologists manually reviewing blood smear images under a microscope. This is time-intensive, prone to inter-observer variability, and simply not scalable — especially in resource-limited or underserved clinical settings.</a:t>
            </a:r>
            <a:br>
              <a:rPr dirty="0"/>
            </a:br>
            <a:br>
              <a:rPr dirty="0"/>
            </a:br>
            <a:r>
              <a:rPr dirty="0"/>
              <a:t>That's the gap we're trying to address. Our research question is: can a fine-tuned convolutional neural network reliably distinguish leukemic cells from normal cells in these images?</a:t>
            </a:r>
            <a:br>
              <a:rPr dirty="0"/>
            </a:br>
            <a:br>
              <a:rPr dirty="0"/>
            </a:br>
            <a:r>
              <a:rPr dirty="0"/>
              <a:t>Our approach is transfer learning — we'll take a CNN pre-trained on ImageNet, either ResNet50 or VGG16, and fine-tune it on this medical imaging task. We'll handle the class imbalance in the data using weighted loss and augmentation, and we're targeting a weighted F1 score above 0.90, which is our explicit success criterion.</a:t>
            </a:r>
            <a:endParaRPr lang="en-US" dirty="0"/>
          </a:p>
          <a:p>
            <a:endParaRPr lang="en-US" dirty="0"/>
          </a:p>
          <a:p>
            <a:r>
              <a:rPr lang="en-US" dirty="0"/>
              <a:t>VGC16 is a smaller and more conceptually simplistic model but generally less accurate and more computationally expensive</a:t>
            </a:r>
          </a:p>
          <a:p>
            <a:r>
              <a:rPr lang="en-US" dirty="0"/>
              <a:t>whereas resnet50 is smaller and more accurate, but has a more complex architecture and is harder to tune</a:t>
            </a:r>
            <a:br>
              <a:rPr dirty="0"/>
            </a:br>
            <a:br>
              <a:rPr dirty="0"/>
            </a:br>
            <a:r>
              <a:rPr dirty="0"/>
              <a:t>F1 Score is a measure of how many predicted positives are actually true positives. </a:t>
            </a:r>
            <a:r>
              <a:rPr lang="en-US" dirty="0"/>
              <a:t>Weighted due to class imbalance.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dataset is C-NMC 2019, released by the National Cancer Institute through The Cancer Imaging Archive. It contains over 15,000 microscopic blood smear images from 118 patients — 69 with ALL and 49 healthy controls. The images are color BMPs captured using the Jenner-Giemsa staining protocol, which highlights cell morphology.</a:t>
            </a:r>
            <a:br/>
            <a:br/>
            <a:r>
              <a:t>The dataset comes pre-organized into three cross-validation folds and a held-out test set. There's no personally identifiable information — it's fully de-identified and publicly accessible.</a:t>
            </a:r>
            <a:br/>
            <a:br/>
            <a:r>
              <a:t>When we did our exploratory analysis, three things stood out. First, there's a roughly 2-to-1 class imbalance — there are about twice as many leukemia images as normal images. This matters a lot for our modeling choices, which we'll come back to. Second, we found that cancer images tend to have higher average pixel brightness and a wider spread, while normal images cluster at lower brightness values — an interesting visual signature. Third, the three folds are roughly balanced in size, which tells us the patient-aware splitting was done carefully and reduces our risk of data leakage between train and validation.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Here's our full analysis pipeline, step by step.</a:t>
            </a:r>
            <a:br>
              <a:rPr dirty="0"/>
            </a:br>
            <a:br>
              <a:rPr dirty="0"/>
            </a:br>
            <a:r>
              <a:rPr dirty="0"/>
              <a:t>We start with 10,661 labeled training images from the C-NMC dataset across three pre-built folds.</a:t>
            </a:r>
            <a:br>
              <a:rPr dirty="0"/>
            </a:br>
            <a:br>
              <a:rPr dirty="0"/>
            </a:br>
            <a:r>
              <a:rPr dirty="0"/>
              <a:t>Before any modeling, we preprocess every image: resize to 224×224 pixels to match the input dimensions expected by ResNet50 and VGG16, and normalize pixel values using ImageNet's per-channel mean and standard deviation. We audited the full dataset for corrupted files upfront — none found.</a:t>
            </a:r>
            <a:br>
              <a:rPr dirty="0"/>
            </a:br>
            <a:br>
              <a:rPr dirty="0"/>
            </a:br>
            <a:r>
              <a:rPr dirty="0"/>
              <a:t>For training images only, we apply data augmentation: random horizontal and vertical flips, rotations up to 15 degrees, and color jitter on brightness, contrast, and saturation. Augmentation is off for validation and test images.</a:t>
            </a:r>
            <a:br>
              <a:rPr dirty="0"/>
            </a:br>
            <a:br>
              <a:rPr dirty="0"/>
            </a:br>
            <a:r>
              <a:rPr dirty="0"/>
              <a:t>For data splitting, we used a fixed assignment: fold_0 and fold_1 for training, fold_2 for validation. This is not a rotating cross-validation — the fold assignment was held constant throughout model selection and hyperparameter tuning. The held-out prelim test set was untouched until final evaluation.</a:t>
            </a:r>
            <a:br>
              <a:rPr dirty="0"/>
            </a:br>
            <a:br>
              <a:rPr dirty="0"/>
            </a:br>
            <a:r>
              <a:rPr dirty="0"/>
              <a:t>Training happens in two phases: first we freeze the backbone and train only the new classification head for 3 epochs at LR 1e-3. Then we unfreeze the full network and fine-tune end-to-end. We use the Adam optimizer, </a:t>
            </a:r>
            <a:r>
              <a:rPr lang="en-US" dirty="0"/>
              <a:t>(</a:t>
            </a:r>
            <a:r>
              <a:rPr lang="en-US" sz="1200" b="0" i="0" u="none" strike="noStrike" kern="1200" dirty="0">
                <a:solidFill>
                  <a:schemeClr val="tx1"/>
                </a:solidFill>
                <a:effectLst/>
                <a:latin typeface="+mn-lt"/>
                <a:ea typeface="+mn-ea"/>
                <a:cs typeface="+mn-cs"/>
              </a:rPr>
              <a:t>meaning training automatically halts when the model stops improving on the validation set, measured by </a:t>
            </a:r>
            <a:r>
              <a:rPr lang="en-US" sz="1200" b="1" i="0" kern="1200" dirty="0">
                <a:solidFill>
                  <a:schemeClr val="tx1"/>
                </a:solidFill>
                <a:effectLst/>
                <a:latin typeface="+mn-lt"/>
                <a:ea typeface="+mn-ea"/>
                <a:cs typeface="+mn-cs"/>
              </a:rPr>
              <a:t>F1 score</a:t>
            </a:r>
            <a:r>
              <a:rPr lang="en-US" sz="1200" b="0" i="0" u="none" strike="noStrike" kern="1200" dirty="0">
                <a:solidFill>
                  <a:schemeClr val="tx1"/>
                </a:solidFill>
                <a:effectLst/>
                <a:latin typeface="+mn-lt"/>
                <a:ea typeface="+mn-ea"/>
                <a:cs typeface="+mn-cs"/>
              </a:rPr>
              <a:t> ) - </a:t>
            </a:r>
            <a:r>
              <a:rPr dirty="0"/>
              <a:t>weighted cross-entropy loss, early stopping with patience of 4 epochs, and run up to 30 epochs.</a:t>
            </a:r>
            <a:br>
              <a:rPr dirty="0"/>
            </a:br>
            <a:br>
              <a:rPr dirty="0"/>
            </a:br>
            <a:r>
              <a:rPr dirty="0"/>
              <a:t>For model selection, we trained both ResNet50 and VGG16 at a fine-tune LR of 1e-4, then swept the LR on the winning architecture — comparing 1e-4 vs. 5e-5. Batch size was fixed at 32 throughout; augmentation settings were not varied. Weighted F1 on fold_2 guided all decisions.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decision that required real deliberation was choosing our primary evaluation metric.</a:t>
            </a:r>
            <a:br/>
            <a:br/>
            <a:r>
              <a:t>On the surface it seems simple — just use accuracy, right? But with a 2-to-1 class imbalance, a model that predicts 'ALL' for every single image would score about 68% accuracy. That sounds decent, but it would completely fail to identify normal cells — and clinically, a false negative means a sick child goes undiagnosed.</a:t>
            </a:r>
            <a:br/>
            <a:br/>
            <a:r>
              <a:t>We considered precision, recall, AUC, and different F1 variants. Weighted F1 accounts for class imbalance by weighting each class's score by its support, penalizing poor performance on either class. Setting an explicit target of F1 &gt; 0.90 gives us a clear finish line.</a:t>
            </a:r>
            <a:br/>
            <a:br/>
            <a:r>
              <a:t>For model selection and hyperparameter tuning, we compared ResNet50 vs. VGG16 at a base fine-tune LR of 1e-4. ResNet50 won. We then swept the fine-tune LR on ResNet50 — 1e-4 vs. 5e-5. Batch size was fixed at 32 throughout; augmentation strength was not varied. Weighted F1 on the fixed validation fold (fold_2) guided all of these choices.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running any experiments, we took time to think carefully about the ways our model could be biased or our conclusions could be wrong. We identified four main risks.</a:t>
            </a:r>
            <a:br/>
            <a:br/>
            <a:r>
              <a:t>First, class imbalance. With roughly twice as many leukemia images as normal, an uncorrected model would be pushed to predict leukemia more often. Our fix is inverse-frequency class weights in the loss function, which counteracts this during training.</a:t>
            </a:r>
            <a:br/>
            <a:br/>
            <a:r>
              <a:t>Second, patient-level leakage. If the same patient's cells appear in both training and validation, the model could memorize patient-specific visual signatures rather than disease-relevant features. The pre-built folds in C-NMC 2019 are patient-aware, so no patient straddles train and validation.</a:t>
            </a:r>
            <a:br/>
            <a:br/>
            <a:r>
              <a:t>Third, augmentation validity. All our transforms — flips, mild rotations, color jitter — are biologically plausible for blood smear images.</a:t>
            </a:r>
            <a:br/>
            <a:br/>
            <a:r>
              <a:t>Fourth — and this is where the results confirmed our concern — unknown visual confounders. We noticed brightness differs between classes in EDA, and worried the model might exploit that as a shortcut. Our results back this up: hem recall dropped to just 0.29, while ALL recall hit 0.96. The model is essentially over-predicting leukemia. Color jitter reduced the reliance on brightness cues somewhat, but wasn't enough to close the gap.</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for our results.</a:t>
            </a:r>
          </a:p>
          <a:p>
            <a:endParaRPr dirty="0"/>
          </a:p>
          <a:p>
            <a:r>
              <a:rPr dirty="0"/>
              <a:t>The best model was ResNet50, trained with a fine-tuning learning rate of 1e-4 and batch size 32. On the validation set, it achieved a weighted F1 of 0.87 — very close to our target. However, when we evaluated on the held-out test set, the weighted F1 dropped to 0.68, which does not meet our 0.90 threshold.</a:t>
            </a:r>
          </a:p>
          <a:p>
            <a:endParaRPr dirty="0"/>
          </a:p>
          <a:p>
            <a:endParaRPr dirty="0"/>
          </a:p>
          <a:p>
            <a:r>
              <a:rPr dirty="0"/>
              <a:t>The training curves and confusion matrix are shown here. The confusion matrix makes the imbalance in recall very visible — many normal cells are being misclassified as leukemia. The model comparison plot shows ResNet50 outperformed VGG16 across our evaluation folds.</a:t>
            </a:r>
          </a:p>
          <a:p>
            <a:endParaRPr dirty="0"/>
          </a:p>
          <a:p>
            <a:r>
              <a:rPr dirty="0"/>
              <a:t>So our conclusion is that ResNet50 is the stronger backbone, but the current setup is insufficient to hit 0.90 on the test set. The gap between validation and test F1 — 0.87 vs. 0.68 — also suggests some overfitting or domain shift we haven't fully addressed. Next steps will focus on resolving this.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False Positives: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training curves and confusion matrix are shown here. The confusion matrix makes the imbalance in recall very visible — many normal cells are being misclassified as leukemia. The model comparison plot shows ResNet50 outperformed VGG16 across our evaluation folds.</a:t>
            </a:r>
          </a:p>
          <a:p>
            <a:endParaRPr lang="en-US" dirty="0"/>
          </a:p>
        </p:txBody>
      </p:sp>
    </p:spTree>
    <p:extLst>
      <p:ext uri="{BB962C8B-B14F-4D97-AF65-F5344CB8AC3E}">
        <p14:creationId xmlns:p14="http://schemas.microsoft.com/office/powerpoint/2010/main" val="24503908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On the Improvements side</a:t>
            </a:r>
          </a:p>
          <a:p>
            <a:pPr marL="171450" indent="-171450">
              <a:buFontTx/>
              <a:buChar char="-"/>
            </a:pPr>
            <a:r>
              <a:rPr lang="en-US" sz="1200" dirty="0"/>
              <a:t>First, we want to explore deeper layer unfreezing strategies and experiment with different learning rate schedules during fine-tuning — the goal is to find the sweet spot between leveraging pre-trained features and adapting the model to our specific task.</a:t>
            </a:r>
          </a:p>
          <a:p>
            <a:pPr marL="171450" indent="-171450">
              <a:buFontTx/>
              <a:buChar char="-"/>
            </a:pPr>
            <a:r>
              <a:rPr lang="en-US" sz="1200" dirty="0"/>
              <a:t> Second, we are considering ensembling ResNet50 and VGG16 predictions together, which could improve robustness by combining the complementary strengths of both architectures. </a:t>
            </a:r>
          </a:p>
          <a:p>
            <a:pPr marL="171450" indent="-171450">
              <a:buFontTx/>
              <a:buChar char="-"/>
            </a:pPr>
            <a:r>
              <a:rPr lang="en-US" sz="1200" dirty="0"/>
              <a:t>Third, we plan to investigate test-time augmentation (TTA), where we apply random transforms to images at inference time and average the predictions — this can reduce variance and improve stability on challenging samples.</a:t>
            </a:r>
          </a:p>
          <a:p>
            <a:r>
              <a:rPr lang="en-US" sz="1200" dirty="0"/>
              <a:t>On the Open Questions side, three key uncertainties remain. First, we do not yet know how well the model generalizes to images captured with different staining protocols or imaging equipment — this is critical for real-world clinical deployment. Second, we are asking whether the current binary classifier could scale to detecting multiple ALL subtypes simultaneously, which would be a significantly more complex problem. Third, we want to confirm that the model's predictions are truly driven by cell morphology and not by patient-level or slide-level confounding signals.</a:t>
            </a:r>
          </a:p>
          <a:p>
            <a:r>
              <a:rPr lang="en-US" sz="1200" dirty="0"/>
              <a:t>These next steps should guide the team's roadmap for turning this proof-of-concept into a more clinically reliable tool.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0BBC6-F40C-7D46-179C-947F9A436B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6DC8F2-3B27-F22D-7045-DB54667C11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D6C0C0-580E-93AF-13FF-06E16B666E3C}"/>
              </a:ext>
            </a:extLst>
          </p:cNvPr>
          <p:cNvSpPr>
            <a:spLocks noGrp="1"/>
          </p:cNvSpPr>
          <p:nvPr>
            <p:ph type="dt" sz="half" idx="10"/>
          </p:nvPr>
        </p:nvSpPr>
        <p:spPr/>
        <p:txBody>
          <a:bodyPr/>
          <a:lstStyle/>
          <a:p>
            <a:fld id="{F0081481-3988-C540-8E36-884609D6C89F}" type="datetimeFigureOut">
              <a:rPr lang="en-US" smtClean="0"/>
              <a:t>4/20/26</a:t>
            </a:fld>
            <a:endParaRPr lang="en-US"/>
          </a:p>
        </p:txBody>
      </p:sp>
      <p:sp>
        <p:nvSpPr>
          <p:cNvPr id="5" name="Footer Placeholder 4">
            <a:extLst>
              <a:ext uri="{FF2B5EF4-FFF2-40B4-BE49-F238E27FC236}">
                <a16:creationId xmlns:a16="http://schemas.microsoft.com/office/drawing/2014/main" id="{1F55DEBA-8F61-106E-6F61-42D0E2C642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CA565E-1E6B-9AD6-1AE2-75D65B968FF4}"/>
              </a:ext>
            </a:extLst>
          </p:cNvPr>
          <p:cNvSpPr>
            <a:spLocks noGrp="1"/>
          </p:cNvSpPr>
          <p:nvPr>
            <p:ph type="sldNum" sz="quarter" idx="12"/>
          </p:nvPr>
        </p:nvSpPr>
        <p:spPr/>
        <p:txBody>
          <a:bodyPr/>
          <a:lstStyle/>
          <a:p>
            <a:fld id="{755C39DF-B4C9-BC46-BBA1-120592597D92}" type="slidenum">
              <a:rPr lang="en-US" smtClean="0"/>
              <a:t>‹#›</a:t>
            </a:fld>
            <a:endParaRPr lang="en-US"/>
          </a:p>
        </p:txBody>
      </p:sp>
    </p:spTree>
    <p:extLst>
      <p:ext uri="{BB962C8B-B14F-4D97-AF65-F5344CB8AC3E}">
        <p14:creationId xmlns:p14="http://schemas.microsoft.com/office/powerpoint/2010/main" val="2733464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78475-6B6C-172F-62F0-8819E55EDC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20A94B-CB86-A817-E7DA-7D3294A075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CDEC9A-CBD5-AA43-D055-B9A466E0CF5B}"/>
              </a:ext>
            </a:extLst>
          </p:cNvPr>
          <p:cNvSpPr>
            <a:spLocks noGrp="1"/>
          </p:cNvSpPr>
          <p:nvPr>
            <p:ph type="dt" sz="half" idx="10"/>
          </p:nvPr>
        </p:nvSpPr>
        <p:spPr/>
        <p:txBody>
          <a:bodyPr/>
          <a:lstStyle/>
          <a:p>
            <a:fld id="{F0081481-3988-C540-8E36-884609D6C89F}" type="datetimeFigureOut">
              <a:rPr lang="en-US" smtClean="0"/>
              <a:t>4/20/26</a:t>
            </a:fld>
            <a:endParaRPr lang="en-US"/>
          </a:p>
        </p:txBody>
      </p:sp>
      <p:sp>
        <p:nvSpPr>
          <p:cNvPr id="5" name="Footer Placeholder 4">
            <a:extLst>
              <a:ext uri="{FF2B5EF4-FFF2-40B4-BE49-F238E27FC236}">
                <a16:creationId xmlns:a16="http://schemas.microsoft.com/office/drawing/2014/main" id="{64FC8000-F47D-052A-CF5D-FB23DA71D8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9D4AC3-D15B-763D-674D-B0AAD5098950}"/>
              </a:ext>
            </a:extLst>
          </p:cNvPr>
          <p:cNvSpPr>
            <a:spLocks noGrp="1"/>
          </p:cNvSpPr>
          <p:nvPr>
            <p:ph type="sldNum" sz="quarter" idx="12"/>
          </p:nvPr>
        </p:nvSpPr>
        <p:spPr/>
        <p:txBody>
          <a:bodyPr/>
          <a:lstStyle/>
          <a:p>
            <a:fld id="{755C39DF-B4C9-BC46-BBA1-120592597D92}" type="slidenum">
              <a:rPr lang="en-US" smtClean="0"/>
              <a:t>‹#›</a:t>
            </a:fld>
            <a:endParaRPr lang="en-US"/>
          </a:p>
        </p:txBody>
      </p:sp>
    </p:spTree>
    <p:extLst>
      <p:ext uri="{BB962C8B-B14F-4D97-AF65-F5344CB8AC3E}">
        <p14:creationId xmlns:p14="http://schemas.microsoft.com/office/powerpoint/2010/main" val="665723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B2181-156F-40A9-A864-4EB2B823E9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012DC9A-20F5-EE46-A4D7-C65FA3D88D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E81CD0-2E84-91DE-DED6-664F0134DC3C}"/>
              </a:ext>
            </a:extLst>
          </p:cNvPr>
          <p:cNvSpPr>
            <a:spLocks noGrp="1"/>
          </p:cNvSpPr>
          <p:nvPr>
            <p:ph type="dt" sz="half" idx="10"/>
          </p:nvPr>
        </p:nvSpPr>
        <p:spPr/>
        <p:txBody>
          <a:bodyPr/>
          <a:lstStyle/>
          <a:p>
            <a:fld id="{F0081481-3988-C540-8E36-884609D6C89F}" type="datetimeFigureOut">
              <a:rPr lang="en-US" smtClean="0"/>
              <a:t>4/20/26</a:t>
            </a:fld>
            <a:endParaRPr lang="en-US"/>
          </a:p>
        </p:txBody>
      </p:sp>
      <p:sp>
        <p:nvSpPr>
          <p:cNvPr id="5" name="Footer Placeholder 4">
            <a:extLst>
              <a:ext uri="{FF2B5EF4-FFF2-40B4-BE49-F238E27FC236}">
                <a16:creationId xmlns:a16="http://schemas.microsoft.com/office/drawing/2014/main" id="{07FE6058-2F9B-BDE4-0AED-8AB1571F70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6E9AD0-B601-B11F-7BCD-1DFCFD4E97E7}"/>
              </a:ext>
            </a:extLst>
          </p:cNvPr>
          <p:cNvSpPr>
            <a:spLocks noGrp="1"/>
          </p:cNvSpPr>
          <p:nvPr>
            <p:ph type="sldNum" sz="quarter" idx="12"/>
          </p:nvPr>
        </p:nvSpPr>
        <p:spPr/>
        <p:txBody>
          <a:bodyPr/>
          <a:lstStyle/>
          <a:p>
            <a:fld id="{755C39DF-B4C9-BC46-BBA1-120592597D92}" type="slidenum">
              <a:rPr lang="en-US" smtClean="0"/>
              <a:t>‹#›</a:t>
            </a:fld>
            <a:endParaRPr lang="en-US"/>
          </a:p>
        </p:txBody>
      </p:sp>
    </p:spTree>
    <p:extLst>
      <p:ext uri="{BB962C8B-B14F-4D97-AF65-F5344CB8AC3E}">
        <p14:creationId xmlns:p14="http://schemas.microsoft.com/office/powerpoint/2010/main" val="3483240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A45B2-0230-9044-ED1E-92857574BC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CD020B-2FA0-1783-9BE0-32AEA8222D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2EFAEA-D368-16E5-F0F6-6C40888510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B898A0-3C91-CC03-65F3-AD30DF5B55BA}"/>
              </a:ext>
            </a:extLst>
          </p:cNvPr>
          <p:cNvSpPr>
            <a:spLocks noGrp="1"/>
          </p:cNvSpPr>
          <p:nvPr>
            <p:ph type="dt" sz="half" idx="10"/>
          </p:nvPr>
        </p:nvSpPr>
        <p:spPr/>
        <p:txBody>
          <a:bodyPr/>
          <a:lstStyle/>
          <a:p>
            <a:fld id="{F0081481-3988-C540-8E36-884609D6C89F}" type="datetimeFigureOut">
              <a:rPr lang="en-US" smtClean="0"/>
              <a:t>4/20/26</a:t>
            </a:fld>
            <a:endParaRPr lang="en-US"/>
          </a:p>
        </p:txBody>
      </p:sp>
      <p:sp>
        <p:nvSpPr>
          <p:cNvPr id="6" name="Footer Placeholder 5">
            <a:extLst>
              <a:ext uri="{FF2B5EF4-FFF2-40B4-BE49-F238E27FC236}">
                <a16:creationId xmlns:a16="http://schemas.microsoft.com/office/drawing/2014/main" id="{B8BC06C6-ABA8-ED53-0EBD-41876D4D1D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C6DDAB-EF54-ED22-4442-8C30ADBA828A}"/>
              </a:ext>
            </a:extLst>
          </p:cNvPr>
          <p:cNvSpPr>
            <a:spLocks noGrp="1"/>
          </p:cNvSpPr>
          <p:nvPr>
            <p:ph type="sldNum" sz="quarter" idx="12"/>
          </p:nvPr>
        </p:nvSpPr>
        <p:spPr/>
        <p:txBody>
          <a:bodyPr/>
          <a:lstStyle/>
          <a:p>
            <a:fld id="{755C39DF-B4C9-BC46-BBA1-120592597D92}" type="slidenum">
              <a:rPr lang="en-US" smtClean="0"/>
              <a:t>‹#›</a:t>
            </a:fld>
            <a:endParaRPr lang="en-US"/>
          </a:p>
        </p:txBody>
      </p:sp>
    </p:spTree>
    <p:extLst>
      <p:ext uri="{BB962C8B-B14F-4D97-AF65-F5344CB8AC3E}">
        <p14:creationId xmlns:p14="http://schemas.microsoft.com/office/powerpoint/2010/main" val="2543292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192F3-EF8A-EF22-9D48-001725941F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A39968D-CFCC-63AF-1124-28B0EB656D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D0335C-CF10-0771-0941-4D70822044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F9E87C-8068-374F-D3D1-18BD4B1FD9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B2E55A-27E9-CC69-70B4-71D6B780F0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6BF154D-A24C-2BC8-834D-8BF40D746863}"/>
              </a:ext>
            </a:extLst>
          </p:cNvPr>
          <p:cNvSpPr>
            <a:spLocks noGrp="1"/>
          </p:cNvSpPr>
          <p:nvPr>
            <p:ph type="dt" sz="half" idx="10"/>
          </p:nvPr>
        </p:nvSpPr>
        <p:spPr/>
        <p:txBody>
          <a:bodyPr/>
          <a:lstStyle/>
          <a:p>
            <a:fld id="{F0081481-3988-C540-8E36-884609D6C89F}" type="datetimeFigureOut">
              <a:rPr lang="en-US" smtClean="0"/>
              <a:t>4/20/26</a:t>
            </a:fld>
            <a:endParaRPr lang="en-US"/>
          </a:p>
        </p:txBody>
      </p:sp>
      <p:sp>
        <p:nvSpPr>
          <p:cNvPr id="8" name="Footer Placeholder 7">
            <a:extLst>
              <a:ext uri="{FF2B5EF4-FFF2-40B4-BE49-F238E27FC236}">
                <a16:creationId xmlns:a16="http://schemas.microsoft.com/office/drawing/2014/main" id="{115DB703-6886-9894-CFE5-CE119F702C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56AAB1-BAE0-E7FF-4D69-13FFDAD69ED8}"/>
              </a:ext>
            </a:extLst>
          </p:cNvPr>
          <p:cNvSpPr>
            <a:spLocks noGrp="1"/>
          </p:cNvSpPr>
          <p:nvPr>
            <p:ph type="sldNum" sz="quarter" idx="12"/>
          </p:nvPr>
        </p:nvSpPr>
        <p:spPr/>
        <p:txBody>
          <a:bodyPr/>
          <a:lstStyle/>
          <a:p>
            <a:fld id="{755C39DF-B4C9-BC46-BBA1-120592597D92}" type="slidenum">
              <a:rPr lang="en-US" smtClean="0"/>
              <a:t>‹#›</a:t>
            </a:fld>
            <a:endParaRPr lang="en-US"/>
          </a:p>
        </p:txBody>
      </p:sp>
    </p:spTree>
    <p:extLst>
      <p:ext uri="{BB962C8B-B14F-4D97-AF65-F5344CB8AC3E}">
        <p14:creationId xmlns:p14="http://schemas.microsoft.com/office/powerpoint/2010/main" val="2027182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DC3BC-CBAE-3557-34DB-28372968C7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8B5900F-4271-957B-1E77-C8ED0DD5DA35}"/>
              </a:ext>
            </a:extLst>
          </p:cNvPr>
          <p:cNvSpPr>
            <a:spLocks noGrp="1"/>
          </p:cNvSpPr>
          <p:nvPr>
            <p:ph type="dt" sz="half" idx="10"/>
          </p:nvPr>
        </p:nvSpPr>
        <p:spPr/>
        <p:txBody>
          <a:bodyPr/>
          <a:lstStyle/>
          <a:p>
            <a:fld id="{F0081481-3988-C540-8E36-884609D6C89F}" type="datetimeFigureOut">
              <a:rPr lang="en-US" smtClean="0"/>
              <a:t>4/20/26</a:t>
            </a:fld>
            <a:endParaRPr lang="en-US"/>
          </a:p>
        </p:txBody>
      </p:sp>
      <p:sp>
        <p:nvSpPr>
          <p:cNvPr id="4" name="Footer Placeholder 3">
            <a:extLst>
              <a:ext uri="{FF2B5EF4-FFF2-40B4-BE49-F238E27FC236}">
                <a16:creationId xmlns:a16="http://schemas.microsoft.com/office/drawing/2014/main" id="{CB3A12AA-D40B-5559-8260-5E2840E1C7A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440377-2B73-BAD9-2459-51B44A17165A}"/>
              </a:ext>
            </a:extLst>
          </p:cNvPr>
          <p:cNvSpPr>
            <a:spLocks noGrp="1"/>
          </p:cNvSpPr>
          <p:nvPr>
            <p:ph type="sldNum" sz="quarter" idx="12"/>
          </p:nvPr>
        </p:nvSpPr>
        <p:spPr/>
        <p:txBody>
          <a:bodyPr/>
          <a:lstStyle/>
          <a:p>
            <a:fld id="{755C39DF-B4C9-BC46-BBA1-120592597D92}" type="slidenum">
              <a:rPr lang="en-US" smtClean="0"/>
              <a:t>‹#›</a:t>
            </a:fld>
            <a:endParaRPr lang="en-US"/>
          </a:p>
        </p:txBody>
      </p:sp>
    </p:spTree>
    <p:extLst>
      <p:ext uri="{BB962C8B-B14F-4D97-AF65-F5344CB8AC3E}">
        <p14:creationId xmlns:p14="http://schemas.microsoft.com/office/powerpoint/2010/main" val="2949452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E175A1-A8C8-4DC9-59B9-940C6ACEC5AE}"/>
              </a:ext>
            </a:extLst>
          </p:cNvPr>
          <p:cNvSpPr>
            <a:spLocks noGrp="1"/>
          </p:cNvSpPr>
          <p:nvPr>
            <p:ph type="dt" sz="half" idx="10"/>
          </p:nvPr>
        </p:nvSpPr>
        <p:spPr/>
        <p:txBody>
          <a:bodyPr/>
          <a:lstStyle/>
          <a:p>
            <a:fld id="{F0081481-3988-C540-8E36-884609D6C89F}" type="datetimeFigureOut">
              <a:rPr lang="en-US" smtClean="0"/>
              <a:t>4/20/26</a:t>
            </a:fld>
            <a:endParaRPr lang="en-US"/>
          </a:p>
        </p:txBody>
      </p:sp>
      <p:sp>
        <p:nvSpPr>
          <p:cNvPr id="3" name="Footer Placeholder 2">
            <a:extLst>
              <a:ext uri="{FF2B5EF4-FFF2-40B4-BE49-F238E27FC236}">
                <a16:creationId xmlns:a16="http://schemas.microsoft.com/office/drawing/2014/main" id="{6809BCBA-08B0-6B98-DF87-E4FAF122A9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037975-4351-5304-9F4F-4BC104FEA557}"/>
              </a:ext>
            </a:extLst>
          </p:cNvPr>
          <p:cNvSpPr>
            <a:spLocks noGrp="1"/>
          </p:cNvSpPr>
          <p:nvPr>
            <p:ph type="sldNum" sz="quarter" idx="12"/>
          </p:nvPr>
        </p:nvSpPr>
        <p:spPr/>
        <p:txBody>
          <a:bodyPr/>
          <a:lstStyle/>
          <a:p>
            <a:fld id="{755C39DF-B4C9-BC46-BBA1-120592597D92}" type="slidenum">
              <a:rPr lang="en-US" smtClean="0"/>
              <a:t>‹#›</a:t>
            </a:fld>
            <a:endParaRPr lang="en-US"/>
          </a:p>
        </p:txBody>
      </p:sp>
    </p:spTree>
    <p:extLst>
      <p:ext uri="{BB962C8B-B14F-4D97-AF65-F5344CB8AC3E}">
        <p14:creationId xmlns:p14="http://schemas.microsoft.com/office/powerpoint/2010/main" val="326780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FB7EB-7844-539C-8C6C-969E511AD6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BC798C-B70B-2B07-BB84-CDCCFE0801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934692-97CE-3FBC-424E-6BA2855DC0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9EBD13-35E0-2B9E-0B94-BC0EBF28A375}"/>
              </a:ext>
            </a:extLst>
          </p:cNvPr>
          <p:cNvSpPr>
            <a:spLocks noGrp="1"/>
          </p:cNvSpPr>
          <p:nvPr>
            <p:ph type="dt" sz="half" idx="10"/>
          </p:nvPr>
        </p:nvSpPr>
        <p:spPr/>
        <p:txBody>
          <a:bodyPr/>
          <a:lstStyle/>
          <a:p>
            <a:fld id="{F0081481-3988-C540-8E36-884609D6C89F}" type="datetimeFigureOut">
              <a:rPr lang="en-US" smtClean="0"/>
              <a:t>4/20/26</a:t>
            </a:fld>
            <a:endParaRPr lang="en-US"/>
          </a:p>
        </p:txBody>
      </p:sp>
      <p:sp>
        <p:nvSpPr>
          <p:cNvPr id="6" name="Footer Placeholder 5">
            <a:extLst>
              <a:ext uri="{FF2B5EF4-FFF2-40B4-BE49-F238E27FC236}">
                <a16:creationId xmlns:a16="http://schemas.microsoft.com/office/drawing/2014/main" id="{B0F7EFB4-F8F8-A2E4-0681-DB52E91949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5F9834-A7FD-F86E-BC28-A10944FC62EC}"/>
              </a:ext>
            </a:extLst>
          </p:cNvPr>
          <p:cNvSpPr>
            <a:spLocks noGrp="1"/>
          </p:cNvSpPr>
          <p:nvPr>
            <p:ph type="sldNum" sz="quarter" idx="12"/>
          </p:nvPr>
        </p:nvSpPr>
        <p:spPr/>
        <p:txBody>
          <a:bodyPr/>
          <a:lstStyle/>
          <a:p>
            <a:fld id="{755C39DF-B4C9-BC46-BBA1-120592597D92}" type="slidenum">
              <a:rPr lang="en-US" smtClean="0"/>
              <a:t>‹#›</a:t>
            </a:fld>
            <a:endParaRPr lang="en-US"/>
          </a:p>
        </p:txBody>
      </p:sp>
    </p:spTree>
    <p:extLst>
      <p:ext uri="{BB962C8B-B14F-4D97-AF65-F5344CB8AC3E}">
        <p14:creationId xmlns:p14="http://schemas.microsoft.com/office/powerpoint/2010/main" val="176306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A274C-982A-7D76-02D7-833A5AA931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C94961-4F14-F512-E874-084E72F0C7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0E8889-03E2-C263-E64D-5F344668F4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B77594-4253-3BAF-1550-BEF70AFE1DD3}"/>
              </a:ext>
            </a:extLst>
          </p:cNvPr>
          <p:cNvSpPr>
            <a:spLocks noGrp="1"/>
          </p:cNvSpPr>
          <p:nvPr>
            <p:ph type="dt" sz="half" idx="10"/>
          </p:nvPr>
        </p:nvSpPr>
        <p:spPr/>
        <p:txBody>
          <a:bodyPr/>
          <a:lstStyle/>
          <a:p>
            <a:fld id="{F0081481-3988-C540-8E36-884609D6C89F}" type="datetimeFigureOut">
              <a:rPr lang="en-US" smtClean="0"/>
              <a:t>4/20/26</a:t>
            </a:fld>
            <a:endParaRPr lang="en-US"/>
          </a:p>
        </p:txBody>
      </p:sp>
      <p:sp>
        <p:nvSpPr>
          <p:cNvPr id="6" name="Footer Placeholder 5">
            <a:extLst>
              <a:ext uri="{FF2B5EF4-FFF2-40B4-BE49-F238E27FC236}">
                <a16:creationId xmlns:a16="http://schemas.microsoft.com/office/drawing/2014/main" id="{24EB9A6B-9E3E-63AE-675B-A40B481C9A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B5ADBD-5E8E-34B9-548C-12F282454DD6}"/>
              </a:ext>
            </a:extLst>
          </p:cNvPr>
          <p:cNvSpPr>
            <a:spLocks noGrp="1"/>
          </p:cNvSpPr>
          <p:nvPr>
            <p:ph type="sldNum" sz="quarter" idx="12"/>
          </p:nvPr>
        </p:nvSpPr>
        <p:spPr/>
        <p:txBody>
          <a:bodyPr/>
          <a:lstStyle/>
          <a:p>
            <a:fld id="{755C39DF-B4C9-BC46-BBA1-120592597D92}" type="slidenum">
              <a:rPr lang="en-US" smtClean="0"/>
              <a:t>‹#›</a:t>
            </a:fld>
            <a:endParaRPr lang="en-US"/>
          </a:p>
        </p:txBody>
      </p:sp>
    </p:spTree>
    <p:extLst>
      <p:ext uri="{BB962C8B-B14F-4D97-AF65-F5344CB8AC3E}">
        <p14:creationId xmlns:p14="http://schemas.microsoft.com/office/powerpoint/2010/main" val="3051859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A6A51-C50D-B02C-F15C-8F47B51F37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F6DD52-2063-DA1C-CDC7-9EC6E5433A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E161CF-B24C-899D-6D9E-C9A9F67CDC49}"/>
              </a:ext>
            </a:extLst>
          </p:cNvPr>
          <p:cNvSpPr>
            <a:spLocks noGrp="1"/>
          </p:cNvSpPr>
          <p:nvPr>
            <p:ph type="dt" sz="half" idx="10"/>
          </p:nvPr>
        </p:nvSpPr>
        <p:spPr/>
        <p:txBody>
          <a:bodyPr/>
          <a:lstStyle/>
          <a:p>
            <a:fld id="{F0081481-3988-C540-8E36-884609D6C89F}" type="datetimeFigureOut">
              <a:rPr lang="en-US" smtClean="0"/>
              <a:t>4/20/26</a:t>
            </a:fld>
            <a:endParaRPr lang="en-US"/>
          </a:p>
        </p:txBody>
      </p:sp>
      <p:sp>
        <p:nvSpPr>
          <p:cNvPr id="5" name="Footer Placeholder 4">
            <a:extLst>
              <a:ext uri="{FF2B5EF4-FFF2-40B4-BE49-F238E27FC236}">
                <a16:creationId xmlns:a16="http://schemas.microsoft.com/office/drawing/2014/main" id="{50221B38-A4B4-2A1F-7025-8E7A3D80D0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FC7AA4-6218-E7CC-C57D-524193873E3A}"/>
              </a:ext>
            </a:extLst>
          </p:cNvPr>
          <p:cNvSpPr>
            <a:spLocks noGrp="1"/>
          </p:cNvSpPr>
          <p:nvPr>
            <p:ph type="sldNum" sz="quarter" idx="12"/>
          </p:nvPr>
        </p:nvSpPr>
        <p:spPr/>
        <p:txBody>
          <a:bodyPr/>
          <a:lstStyle/>
          <a:p>
            <a:fld id="{755C39DF-B4C9-BC46-BBA1-120592597D92}" type="slidenum">
              <a:rPr lang="en-US" smtClean="0"/>
              <a:t>‹#›</a:t>
            </a:fld>
            <a:endParaRPr lang="en-US"/>
          </a:p>
        </p:txBody>
      </p:sp>
    </p:spTree>
    <p:extLst>
      <p:ext uri="{BB962C8B-B14F-4D97-AF65-F5344CB8AC3E}">
        <p14:creationId xmlns:p14="http://schemas.microsoft.com/office/powerpoint/2010/main" val="953782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9D6BC3-F25C-85CE-F644-9E01878EC8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D38F90-5B03-18B8-775A-42470228A6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363A52-53CB-38A2-160A-E846BD22285C}"/>
              </a:ext>
            </a:extLst>
          </p:cNvPr>
          <p:cNvSpPr>
            <a:spLocks noGrp="1"/>
          </p:cNvSpPr>
          <p:nvPr>
            <p:ph type="dt" sz="half" idx="10"/>
          </p:nvPr>
        </p:nvSpPr>
        <p:spPr/>
        <p:txBody>
          <a:bodyPr/>
          <a:lstStyle/>
          <a:p>
            <a:fld id="{F0081481-3988-C540-8E36-884609D6C89F}" type="datetimeFigureOut">
              <a:rPr lang="en-US" smtClean="0"/>
              <a:t>4/20/26</a:t>
            </a:fld>
            <a:endParaRPr lang="en-US"/>
          </a:p>
        </p:txBody>
      </p:sp>
      <p:sp>
        <p:nvSpPr>
          <p:cNvPr id="5" name="Footer Placeholder 4">
            <a:extLst>
              <a:ext uri="{FF2B5EF4-FFF2-40B4-BE49-F238E27FC236}">
                <a16:creationId xmlns:a16="http://schemas.microsoft.com/office/drawing/2014/main" id="{2D234BEC-2946-8A6D-0B4E-F3541632A8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A9F210-146C-754C-2B50-C68C80FA0739}"/>
              </a:ext>
            </a:extLst>
          </p:cNvPr>
          <p:cNvSpPr>
            <a:spLocks noGrp="1"/>
          </p:cNvSpPr>
          <p:nvPr>
            <p:ph type="sldNum" sz="quarter" idx="12"/>
          </p:nvPr>
        </p:nvSpPr>
        <p:spPr/>
        <p:txBody>
          <a:bodyPr/>
          <a:lstStyle/>
          <a:p>
            <a:fld id="{755C39DF-B4C9-BC46-BBA1-120592597D92}" type="slidenum">
              <a:rPr lang="en-US" smtClean="0"/>
              <a:t>‹#›</a:t>
            </a:fld>
            <a:endParaRPr lang="en-US"/>
          </a:p>
        </p:txBody>
      </p:sp>
    </p:spTree>
    <p:extLst>
      <p:ext uri="{BB962C8B-B14F-4D97-AF65-F5344CB8AC3E}">
        <p14:creationId xmlns:p14="http://schemas.microsoft.com/office/powerpoint/2010/main" val="517781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4F8260-E1C3-D133-E32D-DCF9C90325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5E1BC3-81D5-FBBB-3627-89E237C92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1F6AE4-4D3F-F6C5-51F1-86E9E09D8C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081481-3988-C540-8E36-884609D6C89F}" type="datetimeFigureOut">
              <a:rPr lang="en-US" smtClean="0"/>
              <a:t>4/20/26</a:t>
            </a:fld>
            <a:endParaRPr lang="en-US"/>
          </a:p>
        </p:txBody>
      </p:sp>
      <p:sp>
        <p:nvSpPr>
          <p:cNvPr id="5" name="Footer Placeholder 4">
            <a:extLst>
              <a:ext uri="{FF2B5EF4-FFF2-40B4-BE49-F238E27FC236}">
                <a16:creationId xmlns:a16="http://schemas.microsoft.com/office/drawing/2014/main" id="{F6AA8392-ECE2-A6EE-CB72-B0CEF4DF7C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640B36-7DEC-E647-651B-2551216432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5C39DF-B4C9-BC46-BBA1-120592597D92}" type="slidenum">
              <a:rPr lang="en-US" smtClean="0"/>
              <a:t>‹#›</a:t>
            </a:fld>
            <a:endParaRPr lang="en-US"/>
          </a:p>
        </p:txBody>
      </p:sp>
      <p:sp>
        <p:nvSpPr>
          <p:cNvPr id="100" name="AccentBar"/>
          <p:cNvSpPr>
            <a:spLocks noGrp="1"/>
          </p:cNvSpPr>
          <p:nvPr>
            <p:ph type="dt" sz="half" idx="10"/>
          </p:nvPr>
        </p:nvSpPr>
        <p:spPr>
          <a:xfrm>
            <a:off x="0" y="4877230"/>
            <a:ext cx="9144000" cy="45720"/>
          </a:xfrm>
          <a:prstGeom prst="rect">
            <a:avLst/>
          </a:prstGeom>
          <a:solidFill>
            <a:srgbClr val="1A6BAD"/>
          </a:solidFill>
          <a:ln>
            <a:noFill/>
          </a:ln>
        </p:spPr>
        <p:txBody>
          <a:bodyPr/>
          <a:lstStyle/>
          <a:p>
            <a:endParaRPr/>
          </a:p>
        </p:txBody>
      </p:sp>
      <p:sp>
        <p:nvSpPr>
          <p:cNvPr id="101" name="TopBar"/>
          <p:cNvSpPr>
            <a:spLocks noGrp="1"/>
          </p:cNvSpPr>
          <p:nvPr/>
        </p:nvSpPr>
        <p:spPr>
          <a:xfrm>
            <a:off x="0" y="0"/>
            <a:ext cx="685800" cy="4877230"/>
          </a:xfrm>
          <a:prstGeom prst="rect">
            <a:avLst/>
          </a:prstGeom>
          <a:solidFill>
            <a:srgbClr val="0D1B2A"/>
          </a:solidFill>
          <a:ln>
            <a:noFill/>
          </a:ln>
        </p:spPr>
        <p:txBody>
          <a:bodyPr/>
          <a:lstStyle/>
          <a:p>
            <a:endParaRPr/>
          </a:p>
        </p:txBody>
      </p:sp>
      <p:sp>
        <p:nvSpPr>
          <p:cNvPr id="102" name="AccentStripe"/>
          <p:cNvSpPr>
            <a:spLocks noGrp="1"/>
          </p:cNvSpPr>
          <p:nvPr/>
        </p:nvSpPr>
        <p:spPr>
          <a:xfrm>
            <a:off x="685800" y="0"/>
            <a:ext cx="45720" cy="4877230"/>
          </a:xfrm>
          <a:prstGeom prst="rect">
            <a:avLst/>
          </a:prstGeom>
          <a:solidFill>
            <a:srgbClr val="1A6BAD"/>
          </a:solidFill>
          <a:ln>
            <a:noFill/>
          </a:ln>
        </p:spPr>
        <p:txBody>
          <a:bodyPr/>
          <a:lstStyle/>
          <a:p>
            <a:endParaRPr/>
          </a:p>
        </p:txBody>
      </p:sp>
    </p:spTree>
    <p:extLst>
      <p:ext uri="{BB962C8B-B14F-4D97-AF65-F5344CB8AC3E}">
        <p14:creationId xmlns:p14="http://schemas.microsoft.com/office/powerpoint/2010/main" val="22512835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0D1B2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263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LeftBar"/>
          <p:cNvSpPr/>
          <p:nvPr/>
        </p:nvSpPr>
        <p:spPr>
          <a:xfrm>
            <a:off x="0" y="0"/>
            <a:ext cx="685800" cy="6858000"/>
          </a:xfrm>
          <a:prstGeom prst="rect">
            <a:avLst/>
          </a:prstGeom>
          <a:solidFill>
            <a:srgbClr val="1A6BAD"/>
          </a:solidFill>
          <a:ln>
            <a:noFill/>
          </a:ln>
        </p:spPr>
        <p:txBody>
          <a:bodyPr/>
          <a:lstStyle/>
          <a:p>
            <a:endParaRPr/>
          </a:p>
        </p:txBody>
      </p:sp>
      <p:sp>
        <p:nvSpPr>
          <p:cNvPr id="3" name="AccentStripe"/>
          <p:cNvSpPr/>
          <p:nvPr/>
        </p:nvSpPr>
        <p:spPr>
          <a:xfrm>
            <a:off x="685800" y="0"/>
            <a:ext cx="45720" cy="6858000"/>
          </a:xfrm>
          <a:prstGeom prst="rect">
            <a:avLst/>
          </a:prstGeom>
          <a:solidFill>
            <a:srgbClr val="2E86AB"/>
          </a:solidFill>
          <a:ln>
            <a:noFill/>
          </a:ln>
        </p:spPr>
        <p:txBody>
          <a:bodyPr/>
          <a:lstStyle/>
          <a:p>
            <a:endParaRPr/>
          </a:p>
        </p:txBody>
      </p:sp>
      <p:sp>
        <p:nvSpPr>
          <p:cNvPr id="4" name="MainTitle"/>
          <p:cNvSpPr/>
          <p:nvPr/>
        </p:nvSpPr>
        <p:spPr>
          <a:xfrm>
            <a:off x="1980660" y="652272"/>
            <a:ext cx="8230680" cy="1371600"/>
          </a:xfrm>
          <a:prstGeom prst="rect">
            <a:avLst/>
          </a:prstGeom>
          <a:noFill/>
        </p:spPr>
        <p:txBody>
          <a:bodyPr wrap="square" lIns="91440" tIns="45720" rIns="91440" bIns="45720" anchor="ctr"/>
          <a:lstStyle/>
          <a:p>
            <a:pPr algn="ctr">
              <a:buNone/>
            </a:pPr>
            <a:r>
              <a:rPr lang="en-US" sz="3200" b="1" dirty="0">
                <a:solidFill>
                  <a:srgbClr val="FFFFFF"/>
                </a:solidFill>
              </a:rPr>
              <a:t>Classifying Leukemic B-Lymphoblast Cells</a:t>
            </a:r>
          </a:p>
          <a:p>
            <a:pPr algn="ctr">
              <a:buNone/>
            </a:pPr>
            <a:r>
              <a:rPr lang="en-US" sz="3200" b="1" dirty="0">
                <a:solidFill>
                  <a:srgbClr val="FFFFFF"/>
                </a:solidFill>
              </a:rPr>
              <a:t>from Normal B-Lymphoid Precursors</a:t>
            </a:r>
          </a:p>
          <a:p>
            <a:pPr algn="ctr">
              <a:buNone/>
            </a:pPr>
            <a:r>
              <a:rPr lang="en-US" sz="2800" b="0" dirty="0">
                <a:solidFill>
                  <a:srgbClr val="2E86AB"/>
                </a:solidFill>
              </a:rPr>
              <a:t>Using Deep Learning on Microscopic Blood Smear Images</a:t>
            </a:r>
          </a:p>
        </p:txBody>
      </p:sp>
      <p:sp>
        <p:nvSpPr>
          <p:cNvPr id="6" name="Members"/>
          <p:cNvSpPr/>
          <p:nvPr/>
        </p:nvSpPr>
        <p:spPr>
          <a:xfrm>
            <a:off x="3810000" y="2534412"/>
            <a:ext cx="4572000" cy="1600200"/>
          </a:xfrm>
          <a:prstGeom prst="rect">
            <a:avLst/>
          </a:prstGeom>
          <a:noFill/>
        </p:spPr>
        <p:txBody>
          <a:bodyPr wrap="square" lIns="0" tIns="45720" rIns="91440" bIns="45720" anchor="t"/>
          <a:lstStyle/>
          <a:p>
            <a:pPr algn="ctr">
              <a:buNone/>
            </a:pPr>
            <a:r>
              <a:rPr lang="en-US" sz="1600" b="1" dirty="0">
                <a:solidFill>
                  <a:srgbClr val="2E86AB"/>
                </a:solidFill>
              </a:rPr>
              <a:t>Group 12: Model Citizens</a:t>
            </a:r>
          </a:p>
          <a:p>
            <a:pPr algn="ctr">
              <a:buNone/>
            </a:pPr>
            <a:r>
              <a:rPr lang="en-US" sz="1400" dirty="0">
                <a:solidFill>
                  <a:srgbClr val="D0D3D4"/>
                </a:solidFill>
              </a:rPr>
              <a:t>Neil Parikh (Leader), Shaina Banduri, Nishana Dahal</a:t>
            </a:r>
          </a:p>
          <a:p>
            <a:pPr algn="ctr">
              <a:buNone/>
            </a:pPr>
            <a:r>
              <a:rPr lang="en-US" sz="1400" dirty="0">
                <a:solidFill>
                  <a:srgbClr val="D0D3D4"/>
                </a:solidFill>
              </a:rPr>
              <a:t>DS 4002  |  April 2026</a:t>
            </a:r>
          </a:p>
        </p:txBody>
      </p:sp>
      <p:sp>
        <p:nvSpPr>
          <p:cNvPr id="7" name="OutlineBox"/>
          <p:cNvSpPr/>
          <p:nvPr/>
        </p:nvSpPr>
        <p:spPr>
          <a:xfrm>
            <a:off x="4511342" y="3612808"/>
            <a:ext cx="3566880" cy="2743200"/>
          </a:xfrm>
          <a:prstGeom prst="rect">
            <a:avLst/>
          </a:prstGeom>
          <a:solidFill>
            <a:srgbClr val="142434"/>
          </a:solidFill>
          <a:ln w="12700">
            <a:solidFill>
              <a:srgbClr val="1A6BAD"/>
            </a:solidFill>
          </a:ln>
        </p:spPr>
        <p:txBody>
          <a:bodyPr wrap="square" lIns="114300" tIns="91440" rIns="114300" bIns="91440" anchor="t"/>
          <a:lstStyle/>
          <a:p>
            <a:pPr algn="ctr">
              <a:buNone/>
            </a:pPr>
            <a:r>
              <a:rPr lang="en-US" b="1" dirty="0">
                <a:solidFill>
                  <a:srgbClr val="2E86AB"/>
                </a:solidFill>
              </a:rPr>
              <a:t>Outline</a:t>
            </a:r>
          </a:p>
          <a:p>
            <a:pPr marL="114300" indent="-114300" algn="ctr">
              <a:buChar char="▸"/>
            </a:pPr>
            <a:r>
              <a:rPr lang="en-US" dirty="0">
                <a:solidFill>
                  <a:srgbClr val="D0D3D4"/>
                </a:solidFill>
              </a:rPr>
              <a:t>Motivation &amp; Background</a:t>
            </a:r>
          </a:p>
          <a:p>
            <a:pPr marL="114300" indent="-114300" algn="ctr">
              <a:buChar char="▸"/>
            </a:pPr>
            <a:r>
              <a:rPr lang="en-US" dirty="0">
                <a:solidFill>
                  <a:srgbClr val="D0D3D4"/>
                </a:solidFill>
              </a:rPr>
              <a:t>Data Explanation &amp; Acquisition</a:t>
            </a:r>
          </a:p>
          <a:p>
            <a:pPr marL="114300" indent="-114300" algn="ctr">
              <a:buChar char="▸"/>
            </a:pPr>
            <a:r>
              <a:rPr lang="en-US" dirty="0">
                <a:solidFill>
                  <a:srgbClr val="D0D3D4"/>
                </a:solidFill>
              </a:rPr>
              <a:t>Analysis Pipeline</a:t>
            </a:r>
          </a:p>
          <a:p>
            <a:pPr marL="114300" indent="-114300" algn="ctr">
              <a:buChar char="▸"/>
            </a:pPr>
            <a:r>
              <a:rPr lang="en-US" dirty="0">
                <a:solidFill>
                  <a:srgbClr val="D0D3D4"/>
                </a:solidFill>
              </a:rPr>
              <a:t>Tricky Analysis Decision</a:t>
            </a:r>
          </a:p>
          <a:p>
            <a:pPr marL="114300" indent="-114300" algn="ctr">
              <a:buChar char="▸"/>
            </a:pPr>
            <a:r>
              <a:rPr lang="en-US" dirty="0">
                <a:solidFill>
                  <a:srgbClr val="D0D3D4"/>
                </a:solidFill>
              </a:rPr>
              <a:t>Bias &amp; Uncertainty Validation</a:t>
            </a:r>
          </a:p>
          <a:p>
            <a:pPr marL="114300" indent="-114300" algn="ctr">
              <a:buChar char="▸"/>
            </a:pPr>
            <a:r>
              <a:rPr lang="en-US" dirty="0">
                <a:solidFill>
                  <a:srgbClr val="D0D3D4"/>
                </a:solidFill>
              </a:rPr>
              <a:t>Results &amp; Conclusions</a:t>
            </a:r>
          </a:p>
          <a:p>
            <a:pPr marL="114300" indent="-114300" algn="ctr">
              <a:buChar char="▸"/>
            </a:pPr>
            <a:r>
              <a:rPr lang="en-US" dirty="0">
                <a:solidFill>
                  <a:srgbClr val="D0D3D4"/>
                </a:solidFill>
              </a:rPr>
              <a:t>Next Steps &amp; References</a:t>
            </a:r>
          </a:p>
        </p:txBody>
      </p:sp>
    </p:spTree>
    <p:extLst>
      <p:ext uri="{BB962C8B-B14F-4D97-AF65-F5344CB8AC3E}">
        <p14:creationId xmlns:p14="http://schemas.microsoft.com/office/powerpoint/2010/main" val="2907434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E8A6B-E2A6-0E19-3255-070F38215CEC}"/>
              </a:ext>
            </a:extLst>
          </p:cNvPr>
          <p:cNvSpPr>
            <a:spLocks noGrp="1"/>
          </p:cNvSpPr>
          <p:nvPr>
            <p:ph type="title"/>
          </p:nvPr>
        </p:nvSpPr>
        <p:spPr>
          <a:xfrm>
            <a:off x="1238250" y="74930"/>
            <a:ext cx="10515600" cy="762000"/>
          </a:xfrm>
        </p:spPr>
        <p:txBody>
          <a:bodyPr/>
          <a:lstStyle/>
          <a:p>
            <a:pPr algn="ctr">
              <a:buNone/>
            </a:pPr>
            <a:r>
              <a:rPr lang="en-US" sz="2800" b="1" dirty="0">
                <a:solidFill>
                  <a:srgbClr val="0D1B2A"/>
                </a:solidFill>
              </a:rPr>
              <a:t>Motivation &amp; Background</a:t>
            </a:r>
          </a:p>
        </p:txBody>
      </p:sp>
      <p:sp>
        <p:nvSpPr>
          <p:cNvPr id="11" name="RQBox"/>
          <p:cNvSpPr/>
          <p:nvPr/>
        </p:nvSpPr>
        <p:spPr>
          <a:xfrm>
            <a:off x="2209800" y="1163320"/>
            <a:ext cx="7772400" cy="548640"/>
          </a:xfrm>
          <a:prstGeom prst="roundRect">
            <a:avLst>
              <a:gd name="adj" fmla="val 10000"/>
            </a:avLst>
          </a:prstGeom>
          <a:solidFill>
            <a:srgbClr val="EBF5FB"/>
          </a:solidFill>
          <a:ln w="19050">
            <a:solidFill>
              <a:srgbClr val="1A6BAD"/>
            </a:solidFill>
          </a:ln>
        </p:spPr>
        <p:txBody>
          <a:bodyPr wrap="square" lIns="182880" tIns="91440" rIns="182880" bIns="91440" anchor="ctr"/>
          <a:lstStyle/>
          <a:p>
            <a:pPr algn="ctr">
              <a:buNone/>
            </a:pPr>
            <a:r>
              <a:rPr lang="en-US" sz="1600" b="1" dirty="0">
                <a:solidFill>
                  <a:srgbClr val="1A6BAD"/>
                </a:solidFill>
              </a:rPr>
              <a:t>Research Question: </a:t>
            </a:r>
            <a:r>
              <a:rPr lang="en-US" sz="1600" dirty="0">
                <a:solidFill>
                  <a:srgbClr val="0D1B2A"/>
                </a:solidFill>
              </a:rPr>
              <a:t>Can a fine-tuned CNN reliably classify leukemic B-lymphoblast cells from normal B-lymphoid precursors in microscopic blood smear images?</a:t>
            </a:r>
          </a:p>
        </p:txBody>
      </p:sp>
      <p:sp>
        <p:nvSpPr>
          <p:cNvPr id="12" name="WhyHeader"/>
          <p:cNvSpPr/>
          <p:nvPr/>
        </p:nvSpPr>
        <p:spPr>
          <a:xfrm>
            <a:off x="2209800" y="2419350"/>
            <a:ext cx="3657600" cy="274320"/>
          </a:xfrm>
          <a:prstGeom prst="rect">
            <a:avLst/>
          </a:prstGeom>
          <a:solidFill>
            <a:srgbClr val="1A6BAD"/>
          </a:solidFill>
          <a:ln>
            <a:noFill/>
          </a:ln>
        </p:spPr>
        <p:txBody>
          <a:bodyPr lIns="114300" tIns="45720" rIns="114300" bIns="45720" anchor="ctr"/>
          <a:lstStyle/>
          <a:p>
            <a:pPr algn="l">
              <a:buNone/>
            </a:pPr>
            <a:r>
              <a:rPr lang="en-US" sz="1600" b="1" dirty="0">
                <a:solidFill>
                  <a:srgbClr val="FFFFFF"/>
                </a:solidFill>
              </a:rPr>
              <a:t>Why This Matters</a:t>
            </a:r>
          </a:p>
        </p:txBody>
      </p:sp>
      <p:sp>
        <p:nvSpPr>
          <p:cNvPr id="13" name="WhyContent"/>
          <p:cNvSpPr/>
          <p:nvPr/>
        </p:nvSpPr>
        <p:spPr>
          <a:xfrm>
            <a:off x="2209800" y="2693670"/>
            <a:ext cx="3657600" cy="2926080"/>
          </a:xfrm>
          <a:prstGeom prst="rect">
            <a:avLst/>
          </a:prstGeom>
          <a:solidFill>
            <a:srgbClr val="F2F8FD"/>
          </a:solidFill>
          <a:ln w="9525">
            <a:solidFill>
              <a:srgbClr val="D5E8F5"/>
            </a:solidFill>
          </a:ln>
        </p:spPr>
        <p:txBody>
          <a:bodyPr wrap="square" lIns="182880" tIns="137160" rIns="182880" bIns="91440" anchor="t"/>
          <a:lstStyle/>
          <a:p>
            <a:pPr marL="228600" indent="-228600" algn="l">
              <a:buChar char="•"/>
            </a:pPr>
            <a:r>
              <a:rPr lang="en-US" sz="1500" dirty="0">
                <a:solidFill>
                  <a:srgbClr val="0D1B2A"/>
                </a:solidFill>
              </a:rPr>
              <a:t>Acute Lymphoblastic Leukemia (ALL) is the most common childhood cancer, accounting for ~25% of pediatric cancers</a:t>
            </a:r>
          </a:p>
          <a:p>
            <a:pPr marL="228600" indent="-228600" algn="l">
              <a:buChar char="•"/>
            </a:pPr>
            <a:r>
              <a:rPr lang="en-US" sz="1500" dirty="0">
                <a:solidFill>
                  <a:srgbClr val="0D1B2A"/>
                </a:solidFill>
              </a:rPr>
              <a:t>Traditional diagnosis requires expert pathologists to manually review blood smear images, time-consuming and subject to error</a:t>
            </a:r>
          </a:p>
          <a:p>
            <a:pPr marL="228600" indent="-228600" algn="l">
              <a:buChar char="•"/>
            </a:pPr>
            <a:r>
              <a:rPr lang="en-US" sz="1500" dirty="0">
                <a:solidFill>
                  <a:srgbClr val="0D1B2A"/>
                </a:solidFill>
              </a:rPr>
              <a:t>Automated deep learning classification could accelerate and standardize diagnosis, especially in resource-limited settings</a:t>
            </a:r>
          </a:p>
        </p:txBody>
      </p:sp>
      <p:sp>
        <p:nvSpPr>
          <p:cNvPr id="14" name="ApproachHeader"/>
          <p:cNvSpPr/>
          <p:nvPr/>
        </p:nvSpPr>
        <p:spPr>
          <a:xfrm>
            <a:off x="6095400" y="2419350"/>
            <a:ext cx="3886560" cy="274320"/>
          </a:xfrm>
          <a:prstGeom prst="rect">
            <a:avLst/>
          </a:prstGeom>
          <a:solidFill>
            <a:srgbClr val="0D1B2A"/>
          </a:solidFill>
          <a:ln>
            <a:noFill/>
          </a:ln>
        </p:spPr>
        <p:txBody>
          <a:bodyPr lIns="114300" tIns="45720" rIns="114300" bIns="45720" anchor="ctr"/>
          <a:lstStyle/>
          <a:p>
            <a:pPr algn="l">
              <a:buNone/>
            </a:pPr>
            <a:r>
              <a:rPr lang="en-US" sz="1600" b="1" dirty="0">
                <a:solidFill>
                  <a:srgbClr val="FFFFFF"/>
                </a:solidFill>
              </a:rPr>
              <a:t>Modeling Approach</a:t>
            </a:r>
          </a:p>
        </p:txBody>
      </p:sp>
      <p:sp>
        <p:nvSpPr>
          <p:cNvPr id="15" name="ApproachContent"/>
          <p:cNvSpPr/>
          <p:nvPr/>
        </p:nvSpPr>
        <p:spPr>
          <a:xfrm>
            <a:off x="6095400" y="2693670"/>
            <a:ext cx="3886560" cy="2926080"/>
          </a:xfrm>
          <a:prstGeom prst="rect">
            <a:avLst/>
          </a:prstGeom>
          <a:solidFill>
            <a:srgbClr val="F2F8FD"/>
          </a:solidFill>
          <a:ln w="9525">
            <a:solidFill>
              <a:srgbClr val="D5E8F5"/>
            </a:solidFill>
          </a:ln>
        </p:spPr>
        <p:txBody>
          <a:bodyPr wrap="square" lIns="182880" tIns="137160" rIns="182880" bIns="91440" anchor="t"/>
          <a:lstStyle/>
          <a:p>
            <a:pPr marL="228600" indent="-228600" algn="l">
              <a:buChar char="•"/>
            </a:pPr>
            <a:r>
              <a:rPr lang="en-US" sz="1500" b="1" dirty="0">
                <a:solidFill>
                  <a:srgbClr val="1A6BAD"/>
                </a:solidFill>
              </a:rPr>
              <a:t>Transfer Learning: </a:t>
            </a:r>
            <a:r>
              <a:rPr lang="en-US" sz="1500" dirty="0">
                <a:solidFill>
                  <a:srgbClr val="0D1B2A"/>
                </a:solidFill>
              </a:rPr>
              <a:t>Fine-tune ResNet50 or VGG16 pretrained on ImageNet</a:t>
            </a:r>
          </a:p>
          <a:p>
            <a:pPr marL="228600" indent="-228600" algn="l">
              <a:buChar char="•"/>
            </a:pPr>
            <a:r>
              <a:rPr lang="en-US" sz="1500" b="1" dirty="0">
                <a:solidFill>
                  <a:srgbClr val="1A6BAD"/>
                </a:solidFill>
              </a:rPr>
              <a:t>Class Imbalance: </a:t>
            </a:r>
            <a:r>
              <a:rPr lang="en-US" sz="1500" dirty="0">
                <a:solidFill>
                  <a:srgbClr val="0D1B2A"/>
                </a:solidFill>
              </a:rPr>
              <a:t>Weighted cross-entropy loss + data augmentation</a:t>
            </a:r>
          </a:p>
          <a:p>
            <a:pPr marL="228600" indent="-228600" algn="l">
              <a:buChar char="•"/>
            </a:pPr>
            <a:r>
              <a:rPr lang="en-US" sz="1500" b="1" dirty="0">
                <a:solidFill>
                  <a:srgbClr val="1A6BAD"/>
                </a:solidFill>
              </a:rPr>
              <a:t>Goal: </a:t>
            </a:r>
            <a:r>
              <a:rPr lang="en-US" sz="1500" dirty="0">
                <a:solidFill>
                  <a:srgbClr val="0D1B2A"/>
                </a:solidFill>
              </a:rPr>
              <a:t>Weighted F1 score &gt; 0.90 on held-out test set</a:t>
            </a:r>
          </a:p>
          <a:p>
            <a:pPr marL="228600" indent="-228600" algn="l">
              <a:buChar char="•"/>
            </a:pPr>
            <a:r>
              <a:rPr lang="en-US" sz="1500" b="1" dirty="0">
                <a:solidFill>
                  <a:srgbClr val="1A6BAD"/>
                </a:solidFill>
              </a:rPr>
              <a:t>Metric: </a:t>
            </a:r>
            <a:r>
              <a:rPr lang="en-US" sz="1500" dirty="0">
                <a:solidFill>
                  <a:srgbClr val="0D1B2A"/>
                </a:solidFill>
              </a:rPr>
              <a:t>Weighted F1 preferred over accuracy due to class imbalance</a:t>
            </a:r>
          </a:p>
        </p:txBody>
      </p:sp>
    </p:spTree>
    <p:extLst>
      <p:ext uri="{BB962C8B-B14F-4D97-AF65-F5344CB8AC3E}">
        <p14:creationId xmlns:p14="http://schemas.microsoft.com/office/powerpoint/2010/main" val="1272127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4BCAC-FA0C-969B-1FDF-683DE990E917}"/>
              </a:ext>
            </a:extLst>
          </p:cNvPr>
          <p:cNvSpPr>
            <a:spLocks noGrp="1"/>
          </p:cNvSpPr>
          <p:nvPr>
            <p:ph type="title"/>
          </p:nvPr>
        </p:nvSpPr>
        <p:spPr>
          <a:xfrm>
            <a:off x="838200" y="127000"/>
            <a:ext cx="10515600" cy="762000"/>
          </a:xfrm>
        </p:spPr>
        <p:txBody>
          <a:bodyPr>
            <a:normAutofit/>
          </a:bodyPr>
          <a:lstStyle/>
          <a:p>
            <a:pPr algn="ctr">
              <a:buNone/>
            </a:pPr>
            <a:r>
              <a:rPr lang="en-US" sz="3600" b="1" dirty="0">
                <a:solidFill>
                  <a:srgbClr val="0D1B2A"/>
                </a:solidFill>
              </a:rPr>
              <a:t>Data Acquisition &amp; Explanation</a:t>
            </a:r>
          </a:p>
        </p:txBody>
      </p:sp>
      <p:sp>
        <p:nvSpPr>
          <p:cNvPr id="10" name="SlideNum"/>
          <p:cNvSpPr/>
          <p:nvPr/>
        </p:nvSpPr>
        <p:spPr>
          <a:xfrm>
            <a:off x="8686080" y="5029200"/>
            <a:ext cx="457920" cy="228600"/>
          </a:xfrm>
          <a:prstGeom prst="rect">
            <a:avLst/>
          </a:prstGeom>
          <a:noFill/>
        </p:spPr>
        <p:txBody>
          <a:bodyPr anchor="ctr"/>
          <a:lstStyle/>
          <a:p>
            <a:pPr algn="r">
              <a:buNone/>
            </a:pPr>
            <a:r>
              <a:rPr lang="en-US" sz="1400" dirty="0">
                <a:solidFill>
                  <a:srgbClr val="7F8C8D"/>
                </a:solidFill>
              </a:rPr>
              <a:t>3</a:t>
            </a:r>
          </a:p>
        </p:txBody>
      </p:sp>
      <p:sp>
        <p:nvSpPr>
          <p:cNvPr id="11" name="DataSummary"/>
          <p:cNvSpPr/>
          <p:nvPr/>
        </p:nvSpPr>
        <p:spPr>
          <a:xfrm>
            <a:off x="1576980" y="1863506"/>
            <a:ext cx="4114800" cy="3279994"/>
          </a:xfrm>
          <a:prstGeom prst="rect">
            <a:avLst/>
          </a:prstGeom>
          <a:solidFill>
            <a:srgbClr val="F2F8FD"/>
          </a:solidFill>
          <a:ln w="9525">
            <a:solidFill>
              <a:srgbClr val="1A6BAD"/>
            </a:solidFill>
          </a:ln>
        </p:spPr>
        <p:txBody>
          <a:bodyPr wrap="square" lIns="182880" tIns="137160" rIns="182880" bIns="91440" anchor="t"/>
          <a:lstStyle/>
          <a:p>
            <a:pPr algn="l">
              <a:buNone/>
            </a:pPr>
            <a:r>
              <a:rPr lang="en-US" sz="2000" b="1" dirty="0">
                <a:solidFill>
                  <a:srgbClr val="1A6BAD"/>
                </a:solidFill>
              </a:rPr>
              <a:t>C-NMC 2019 Dataset</a:t>
            </a:r>
          </a:p>
          <a:p>
            <a:pPr algn="l">
              <a:buNone/>
            </a:pPr>
            <a:r>
              <a:rPr lang="en-US" dirty="0">
                <a:solidFill>
                  <a:srgbClr val="566573"/>
                </a:solidFill>
              </a:rPr>
              <a:t>Source: The Cancer Imaging Archive (NCI)</a:t>
            </a:r>
          </a:p>
          <a:p>
            <a:pPr marL="228600" indent="-228600" algn="l">
              <a:buChar char="•"/>
            </a:pPr>
            <a:r>
              <a:rPr lang="en-US" dirty="0">
                <a:solidFill>
                  <a:srgbClr val="0D1B2A"/>
                </a:solidFill>
              </a:rPr>
              <a:t>10,661 microscopic blood smear images</a:t>
            </a:r>
          </a:p>
          <a:p>
            <a:pPr marL="228600" indent="-228600" algn="l">
              <a:buChar char="•"/>
            </a:pPr>
            <a:r>
              <a:rPr lang="en-US" dirty="0">
                <a:solidFill>
                  <a:srgbClr val="0D1B2A"/>
                </a:solidFill>
              </a:rPr>
              <a:t>73 patients (47 ALL, 26 normal)</a:t>
            </a:r>
          </a:p>
          <a:p>
            <a:pPr marL="228600" indent="-228600" algn="l">
              <a:buChar char="•"/>
            </a:pPr>
            <a:r>
              <a:rPr lang="en-US" dirty="0">
                <a:solidFill>
                  <a:srgbClr val="0D1B2A"/>
                </a:solidFill>
              </a:rPr>
              <a:t>3 pre-defined cross-validation folds (fold_0, fold_1, fold_2) + held-out test set</a:t>
            </a:r>
          </a:p>
          <a:p>
            <a:pPr marL="228600" indent="-228600" algn="l">
              <a:buChar char="•"/>
            </a:pPr>
            <a:r>
              <a:rPr lang="en-US" dirty="0">
                <a:solidFill>
                  <a:srgbClr val="0D1B2A"/>
                </a:solidFill>
              </a:rPr>
              <a:t>Publicly available; no PII or sensitive patient data</a:t>
            </a:r>
          </a:p>
        </p:txBody>
      </p:sp>
      <p:sp>
        <p:nvSpPr>
          <p:cNvPr id="13" name="EDA1"/>
          <p:cNvSpPr/>
          <p:nvPr/>
        </p:nvSpPr>
        <p:spPr>
          <a:xfrm>
            <a:off x="6752653" y="4296830"/>
            <a:ext cx="3466252" cy="1693340"/>
          </a:xfrm>
          <a:prstGeom prst="rect">
            <a:avLst/>
          </a:prstGeom>
          <a:solidFill>
            <a:srgbClr val="FDFEFE"/>
          </a:solidFill>
          <a:ln w="9525">
            <a:solidFill>
              <a:srgbClr val="E74C3C"/>
            </a:solidFill>
          </a:ln>
        </p:spPr>
        <p:txBody>
          <a:bodyPr wrap="square" lIns="182880" tIns="114300" rIns="182880" bIns="91440" anchor="t"/>
          <a:lstStyle/>
          <a:p>
            <a:pPr algn="l">
              <a:buNone/>
            </a:pPr>
            <a:r>
              <a:rPr lang="en-US" b="1" dirty="0">
                <a:solidFill>
                  <a:srgbClr val="E74C3C"/>
                </a:solidFill>
              </a:rPr>
              <a:t>Class Imbalance (~2:1)</a:t>
            </a:r>
          </a:p>
          <a:p>
            <a:pPr marL="228600" indent="-228600" algn="l">
              <a:buChar char="–"/>
            </a:pPr>
            <a:r>
              <a:rPr lang="en-US" dirty="0">
                <a:solidFill>
                  <a:srgbClr val="0D1B2A"/>
                </a:solidFill>
              </a:rPr>
              <a:t>More ALL (leukemia) than normal images</a:t>
            </a:r>
          </a:p>
          <a:p>
            <a:pPr marL="228600" indent="-228600" algn="l">
              <a:buChar char="–"/>
            </a:pPr>
            <a:r>
              <a:rPr lang="en-US" dirty="0">
                <a:solidFill>
                  <a:srgbClr val="0D1B2A"/>
                </a:solidFill>
              </a:rPr>
              <a:t>Requires weighted loss since accuracy alone is misleading</a:t>
            </a:r>
          </a:p>
        </p:txBody>
      </p:sp>
      <p:sp>
        <p:nvSpPr>
          <p:cNvPr id="14" name="EDA2"/>
          <p:cNvSpPr/>
          <p:nvPr/>
        </p:nvSpPr>
        <p:spPr>
          <a:xfrm>
            <a:off x="7030782" y="1375412"/>
            <a:ext cx="2909993" cy="2555233"/>
          </a:xfrm>
          <a:prstGeom prst="rect">
            <a:avLst/>
          </a:prstGeom>
          <a:solidFill>
            <a:srgbClr val="FDFEFE"/>
          </a:solidFill>
          <a:ln w="9525">
            <a:solidFill>
              <a:srgbClr val="F39C12"/>
            </a:solidFill>
          </a:ln>
        </p:spPr>
        <p:txBody>
          <a:bodyPr wrap="square" lIns="182880" tIns="114300" rIns="182880" bIns="91440" anchor="t"/>
          <a:lstStyle/>
          <a:p>
            <a:pPr algn="l">
              <a:buNone/>
            </a:pPr>
            <a:r>
              <a:rPr lang="en-US" b="1" dirty="0">
                <a:solidFill>
                  <a:srgbClr val="F39C12"/>
                </a:solidFill>
              </a:rPr>
              <a:t>Brightness Difference</a:t>
            </a:r>
          </a:p>
          <a:p>
            <a:pPr marL="228600" indent="-228600" algn="l">
              <a:buChar char="–"/>
            </a:pPr>
            <a:r>
              <a:rPr lang="en-US" dirty="0">
                <a:solidFill>
                  <a:srgbClr val="0D1B2A"/>
                </a:solidFill>
              </a:rPr>
              <a:t>Cancer images: higher avg. brightness, wider spread</a:t>
            </a:r>
          </a:p>
          <a:p>
            <a:pPr marL="228600" indent="-228600" algn="l">
              <a:buChar char="–"/>
            </a:pPr>
            <a:r>
              <a:rPr lang="en-US" dirty="0">
                <a:solidFill>
                  <a:srgbClr val="0D1B2A"/>
                </a:solidFill>
              </a:rPr>
              <a:t>Normal images: concentrated at lower brightness</a:t>
            </a:r>
          </a:p>
        </p:txBody>
      </p:sp>
    </p:spTree>
    <p:extLst>
      <p:ext uri="{BB962C8B-B14F-4D97-AF65-F5344CB8AC3E}">
        <p14:creationId xmlns:p14="http://schemas.microsoft.com/office/powerpoint/2010/main" val="1513409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q1_class_distribution.png">
            <a:extLst>
              <a:ext uri="{FF2B5EF4-FFF2-40B4-BE49-F238E27FC236}">
                <a16:creationId xmlns:a16="http://schemas.microsoft.com/office/drawing/2014/main" id="{CE9C3ED2-078A-837C-4EEF-B0BAC46C1F1C}"/>
              </a:ext>
            </a:extLst>
          </p:cNvPr>
          <p:cNvPicPr>
            <a:picLocks noChangeAspect="1"/>
          </p:cNvPicPr>
          <p:nvPr/>
        </p:nvPicPr>
        <p:blipFill>
          <a:blip r:embed="rId2"/>
          <a:stretch>
            <a:fillRect/>
          </a:stretch>
        </p:blipFill>
        <p:spPr>
          <a:xfrm>
            <a:off x="6508559" y="1420045"/>
            <a:ext cx="5497174" cy="4390944"/>
          </a:xfrm>
          <a:prstGeom prst="rect">
            <a:avLst/>
          </a:prstGeom>
        </p:spPr>
      </p:pic>
      <p:pic>
        <p:nvPicPr>
          <p:cNvPr id="3" name="Picture 2" descr="q3_brightness_by_class.png">
            <a:extLst>
              <a:ext uri="{FF2B5EF4-FFF2-40B4-BE49-F238E27FC236}">
                <a16:creationId xmlns:a16="http://schemas.microsoft.com/office/drawing/2014/main" id="{7E6A9FC2-5AE7-B8E0-3CFA-3B26B03CAD14}"/>
              </a:ext>
            </a:extLst>
          </p:cNvPr>
          <p:cNvPicPr>
            <a:picLocks noChangeAspect="1"/>
          </p:cNvPicPr>
          <p:nvPr/>
        </p:nvPicPr>
        <p:blipFill>
          <a:blip r:embed="rId3"/>
          <a:stretch>
            <a:fillRect/>
          </a:stretch>
        </p:blipFill>
        <p:spPr>
          <a:xfrm>
            <a:off x="838200" y="1420045"/>
            <a:ext cx="5842569" cy="4390944"/>
          </a:xfrm>
          <a:prstGeom prst="rect">
            <a:avLst/>
          </a:prstGeom>
        </p:spPr>
      </p:pic>
      <p:sp>
        <p:nvSpPr>
          <p:cNvPr id="6" name="Title 1">
            <a:extLst>
              <a:ext uri="{FF2B5EF4-FFF2-40B4-BE49-F238E27FC236}">
                <a16:creationId xmlns:a16="http://schemas.microsoft.com/office/drawing/2014/main" id="{80086476-7792-F8D5-2372-1DC7C55372B3}"/>
              </a:ext>
            </a:extLst>
          </p:cNvPr>
          <p:cNvSpPr>
            <a:spLocks noGrp="1"/>
          </p:cNvSpPr>
          <p:nvPr>
            <p:ph type="title"/>
          </p:nvPr>
        </p:nvSpPr>
        <p:spPr>
          <a:xfrm>
            <a:off x="838200" y="127000"/>
            <a:ext cx="10515600" cy="762000"/>
          </a:xfrm>
        </p:spPr>
        <p:txBody>
          <a:bodyPr>
            <a:normAutofit/>
          </a:bodyPr>
          <a:lstStyle/>
          <a:p>
            <a:pPr algn="ctr">
              <a:buNone/>
            </a:pPr>
            <a:r>
              <a:rPr lang="en-US" sz="3600" b="1" dirty="0">
                <a:solidFill>
                  <a:srgbClr val="0D1B2A"/>
                </a:solidFill>
              </a:rPr>
              <a:t>Data Acquisition &amp; Explanation</a:t>
            </a:r>
          </a:p>
        </p:txBody>
      </p:sp>
    </p:spTree>
    <p:extLst>
      <p:ext uri="{BB962C8B-B14F-4D97-AF65-F5344CB8AC3E}">
        <p14:creationId xmlns:p14="http://schemas.microsoft.com/office/powerpoint/2010/main" val="856449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E12B7-B4E3-167F-A8BD-EA1475AB3072}"/>
              </a:ext>
            </a:extLst>
          </p:cNvPr>
          <p:cNvSpPr>
            <a:spLocks noGrp="1"/>
          </p:cNvSpPr>
          <p:nvPr>
            <p:ph type="title"/>
          </p:nvPr>
        </p:nvSpPr>
        <p:spPr>
          <a:xfrm>
            <a:off x="838200" y="127000"/>
            <a:ext cx="10515600" cy="762000"/>
          </a:xfrm>
        </p:spPr>
        <p:txBody>
          <a:bodyPr/>
          <a:lstStyle/>
          <a:p>
            <a:pPr algn="ctr">
              <a:buNone/>
            </a:pPr>
            <a:r>
              <a:rPr lang="en-US" sz="2800" b="1" dirty="0">
                <a:solidFill>
                  <a:srgbClr val="0D1B2A"/>
                </a:solidFill>
              </a:rPr>
              <a:t>Analysis Plan &amp; Pipeline</a:t>
            </a:r>
          </a:p>
        </p:txBody>
      </p:sp>
      <p:sp>
        <p:nvSpPr>
          <p:cNvPr id="10" name="SlideNum"/>
          <p:cNvSpPr/>
          <p:nvPr/>
        </p:nvSpPr>
        <p:spPr>
          <a:xfrm>
            <a:off x="8686080" y="5029200"/>
            <a:ext cx="457920" cy="228600"/>
          </a:xfrm>
          <a:prstGeom prst="rect">
            <a:avLst/>
          </a:prstGeom>
          <a:noFill/>
        </p:spPr>
        <p:txBody>
          <a:bodyPr anchor="ctr"/>
          <a:lstStyle/>
          <a:p>
            <a:pPr algn="r">
              <a:buNone/>
            </a:pPr>
            <a:r>
              <a:rPr lang="en-US" sz="1400" dirty="0">
                <a:solidFill>
                  <a:srgbClr val="7F8C8D"/>
                </a:solidFill>
              </a:rPr>
              <a:t>4</a:t>
            </a:r>
          </a:p>
        </p:txBody>
      </p:sp>
      <p:sp>
        <p:nvSpPr>
          <p:cNvPr id="20" name="Step20"/>
          <p:cNvSpPr/>
          <p:nvPr/>
        </p:nvSpPr>
        <p:spPr>
          <a:xfrm>
            <a:off x="2833920" y="1596390"/>
            <a:ext cx="1280160" cy="1421370"/>
          </a:xfrm>
          <a:prstGeom prst="roundRect">
            <a:avLst>
              <a:gd name="adj" fmla="val 10000"/>
            </a:avLst>
          </a:prstGeom>
          <a:solidFill>
            <a:srgbClr val="2E86AB"/>
          </a:solidFill>
          <a:ln>
            <a:noFill/>
          </a:ln>
        </p:spPr>
        <p:txBody>
          <a:bodyPr wrap="square" lIns="91440" tIns="91440" rIns="91440" bIns="91440" anchor="ctr"/>
          <a:lstStyle/>
          <a:p>
            <a:pPr algn="ctr">
              <a:buNone/>
            </a:pPr>
            <a:r>
              <a:rPr lang="en-US" sz="1400" b="1" dirty="0">
                <a:solidFill>
                  <a:srgbClr val="FFFFFF"/>
                </a:solidFill>
              </a:rPr>
              <a:t>1. Raw Data</a:t>
            </a:r>
          </a:p>
          <a:p>
            <a:pPr algn="ctr">
              <a:buNone/>
            </a:pPr>
            <a:r>
              <a:rPr lang="en-US" sz="1200" dirty="0">
                <a:solidFill>
                  <a:srgbClr val="D6EAF8"/>
                </a:solidFill>
              </a:rPr>
              <a:t>10,661 labeled
training images
C-NMC 2019</a:t>
            </a:r>
          </a:p>
        </p:txBody>
      </p:sp>
      <p:sp>
        <p:nvSpPr>
          <p:cNvPr id="21" name="Step21"/>
          <p:cNvSpPr/>
          <p:nvPr/>
        </p:nvSpPr>
        <p:spPr>
          <a:xfrm>
            <a:off x="4205520" y="1596390"/>
            <a:ext cx="1463040" cy="1421370"/>
          </a:xfrm>
          <a:prstGeom prst="roundRect">
            <a:avLst>
              <a:gd name="adj" fmla="val 10000"/>
            </a:avLst>
          </a:prstGeom>
          <a:solidFill>
            <a:srgbClr val="1A6BAD"/>
          </a:solidFill>
          <a:ln>
            <a:noFill/>
          </a:ln>
        </p:spPr>
        <p:txBody>
          <a:bodyPr wrap="square" lIns="91440" tIns="91440" rIns="91440" bIns="91440" anchor="ctr"/>
          <a:lstStyle/>
          <a:p>
            <a:pPr algn="ctr">
              <a:buNone/>
            </a:pPr>
            <a:r>
              <a:rPr lang="en-US" sz="1400" b="1" dirty="0">
                <a:solidFill>
                  <a:srgbClr val="FFFFFF"/>
                </a:solidFill>
              </a:rPr>
              <a:t>2. Preprocessing</a:t>
            </a:r>
          </a:p>
          <a:p>
            <a:pPr algn="ctr">
              <a:buNone/>
            </a:pPr>
            <a:r>
              <a:rPr lang="en-US" sz="1200" dirty="0">
                <a:solidFill>
                  <a:srgbClr val="D6EAF8"/>
                </a:solidFill>
              </a:rPr>
              <a:t>Resize 224×224
Normalize (ImageNet
mean/std)</a:t>
            </a:r>
          </a:p>
        </p:txBody>
      </p:sp>
      <p:sp>
        <p:nvSpPr>
          <p:cNvPr id="22" name="Step22"/>
          <p:cNvSpPr/>
          <p:nvPr/>
        </p:nvSpPr>
        <p:spPr>
          <a:xfrm>
            <a:off x="5760000" y="1596390"/>
            <a:ext cx="1463040" cy="1421370"/>
          </a:xfrm>
          <a:prstGeom prst="roundRect">
            <a:avLst>
              <a:gd name="adj" fmla="val 10000"/>
            </a:avLst>
          </a:prstGeom>
          <a:solidFill>
            <a:srgbClr val="1B4F72"/>
          </a:solidFill>
          <a:ln>
            <a:noFill/>
          </a:ln>
        </p:spPr>
        <p:txBody>
          <a:bodyPr wrap="square" lIns="91440" tIns="91440" rIns="91440" bIns="91440" anchor="ctr"/>
          <a:lstStyle/>
          <a:p>
            <a:pPr algn="ctr">
              <a:buNone/>
            </a:pPr>
            <a:r>
              <a:rPr lang="en-US" sz="1400" b="1" dirty="0">
                <a:solidFill>
                  <a:srgbClr val="FFFFFF"/>
                </a:solidFill>
              </a:rPr>
              <a:t>3. Augmentation</a:t>
            </a:r>
          </a:p>
          <a:p>
            <a:pPr algn="ctr">
              <a:buNone/>
            </a:pPr>
            <a:r>
              <a:rPr lang="en-US" sz="1200" dirty="0">
                <a:solidFill>
                  <a:srgbClr val="D6EAF8"/>
                </a:solidFill>
              </a:rPr>
              <a:t>Flips, rotations
(±15°), color jitter
(train only)</a:t>
            </a:r>
          </a:p>
        </p:txBody>
      </p:sp>
      <p:sp>
        <p:nvSpPr>
          <p:cNvPr id="23" name="Step23"/>
          <p:cNvSpPr/>
          <p:nvPr/>
        </p:nvSpPr>
        <p:spPr>
          <a:xfrm>
            <a:off x="7413540" y="1596390"/>
            <a:ext cx="1280160" cy="1421370"/>
          </a:xfrm>
          <a:prstGeom prst="roundRect">
            <a:avLst>
              <a:gd name="adj" fmla="val 10000"/>
            </a:avLst>
          </a:prstGeom>
          <a:solidFill>
            <a:srgbClr val="0D1B2A"/>
          </a:solidFill>
          <a:ln>
            <a:noFill/>
          </a:ln>
        </p:spPr>
        <p:txBody>
          <a:bodyPr wrap="square" lIns="91440" tIns="91440" rIns="91440" bIns="91440" anchor="ctr"/>
          <a:lstStyle/>
          <a:p>
            <a:pPr algn="ctr">
              <a:buNone/>
            </a:pPr>
            <a:r>
              <a:rPr lang="en-US" sz="1400" b="1" dirty="0">
                <a:solidFill>
                  <a:srgbClr val="FFFFFF"/>
                </a:solidFill>
              </a:rPr>
              <a:t>4. Model Training</a:t>
            </a:r>
          </a:p>
          <a:p>
            <a:pPr algn="ctr">
              <a:buNone/>
            </a:pPr>
            <a:r>
              <a:rPr lang="en-US" sz="1200" dirty="0">
                <a:solidFill>
                  <a:srgbClr val="D6EAF8"/>
                </a:solidFill>
              </a:rPr>
              <a:t>ResNet50 / VGG16
Feature extract
then fine-tune</a:t>
            </a:r>
          </a:p>
        </p:txBody>
      </p:sp>
      <p:sp>
        <p:nvSpPr>
          <p:cNvPr id="24" name="Step24"/>
          <p:cNvSpPr/>
          <p:nvPr/>
        </p:nvSpPr>
        <p:spPr>
          <a:xfrm>
            <a:off x="8876580" y="1596390"/>
            <a:ext cx="1280160" cy="1421370"/>
          </a:xfrm>
          <a:prstGeom prst="roundRect">
            <a:avLst>
              <a:gd name="adj" fmla="val 10000"/>
            </a:avLst>
          </a:prstGeom>
          <a:solidFill>
            <a:srgbClr val="27AE60"/>
          </a:solidFill>
          <a:ln>
            <a:noFill/>
          </a:ln>
        </p:spPr>
        <p:txBody>
          <a:bodyPr wrap="square" lIns="91440" tIns="91440" rIns="91440" bIns="91440" anchor="ctr"/>
          <a:lstStyle/>
          <a:p>
            <a:pPr algn="ctr">
              <a:buNone/>
            </a:pPr>
            <a:r>
              <a:rPr lang="en-US" sz="1400" b="1" dirty="0">
                <a:solidFill>
                  <a:srgbClr val="FFFFFF"/>
                </a:solidFill>
              </a:rPr>
              <a:t>5. Evaluation</a:t>
            </a:r>
          </a:p>
          <a:p>
            <a:pPr algn="ctr">
              <a:buNone/>
            </a:pPr>
            <a:r>
              <a:rPr lang="en-US" sz="1200" dirty="0">
                <a:solidFill>
                  <a:srgbClr val="D6EAF8"/>
                </a:solidFill>
              </a:rPr>
              <a:t>Weighted F1,
Precision, Recall
Confusion Matrix</a:t>
            </a:r>
          </a:p>
        </p:txBody>
      </p:sp>
      <p:sp>
        <p:nvSpPr>
          <p:cNvPr id="32" name="Arrow32"/>
          <p:cNvSpPr/>
          <p:nvPr/>
        </p:nvSpPr>
        <p:spPr>
          <a:xfrm>
            <a:off x="4937760" y="1691880"/>
            <a:ext cx="182880" cy="91440"/>
          </a:xfrm>
          <a:prstGeom prst="rightArrow">
            <a:avLst>
              <a:gd name="adj1" fmla="val 50000"/>
              <a:gd name="adj2" fmla="val 50000"/>
            </a:avLst>
          </a:prstGeom>
          <a:solidFill>
            <a:srgbClr val="1A6BAD"/>
          </a:solidFill>
          <a:ln>
            <a:noFill/>
          </a:ln>
        </p:spPr>
        <p:txBody>
          <a:bodyPr/>
          <a:lstStyle/>
          <a:p>
            <a:endParaRPr/>
          </a:p>
        </p:txBody>
      </p:sp>
      <p:sp>
        <p:nvSpPr>
          <p:cNvPr id="33" name="Arrow33"/>
          <p:cNvSpPr/>
          <p:nvPr/>
        </p:nvSpPr>
        <p:spPr>
          <a:xfrm>
            <a:off x="6400800" y="1691880"/>
            <a:ext cx="182880" cy="91440"/>
          </a:xfrm>
          <a:prstGeom prst="rightArrow">
            <a:avLst>
              <a:gd name="adj1" fmla="val 50000"/>
              <a:gd name="adj2" fmla="val 50000"/>
            </a:avLst>
          </a:prstGeom>
          <a:solidFill>
            <a:srgbClr val="1A6BAD"/>
          </a:solidFill>
          <a:ln>
            <a:noFill/>
          </a:ln>
        </p:spPr>
        <p:txBody>
          <a:bodyPr/>
          <a:lstStyle/>
          <a:p>
            <a:endParaRPr/>
          </a:p>
        </p:txBody>
      </p:sp>
      <p:sp>
        <p:nvSpPr>
          <p:cNvPr id="40" name="CVBox"/>
          <p:cNvSpPr/>
          <p:nvPr/>
        </p:nvSpPr>
        <p:spPr>
          <a:xfrm>
            <a:off x="1945830" y="3954540"/>
            <a:ext cx="3886560" cy="1920240"/>
          </a:xfrm>
          <a:prstGeom prst="rect">
            <a:avLst/>
          </a:prstGeom>
          <a:solidFill>
            <a:srgbClr val="EBF5FB"/>
          </a:solidFill>
          <a:ln w="9525">
            <a:solidFill>
              <a:srgbClr val="1A6BAD"/>
            </a:solidFill>
          </a:ln>
        </p:spPr>
        <p:txBody>
          <a:bodyPr wrap="square" lIns="182880" tIns="137160" rIns="182880" bIns="91440" anchor="t"/>
          <a:lstStyle/>
          <a:p>
            <a:pPr algn="l">
              <a:buNone/>
            </a:pPr>
            <a:r>
              <a:rPr lang="en-US" sz="1600" b="1" dirty="0">
                <a:solidFill>
                  <a:srgbClr val="1A6BAD"/>
                </a:solidFill>
              </a:rPr>
              <a:t>Data Splitting &amp; Cross-Validation</a:t>
            </a:r>
          </a:p>
          <a:p>
            <a:pPr marL="228600" indent="-228600" algn="l">
              <a:buChar char="•"/>
            </a:pPr>
            <a:r>
              <a:rPr lang="en-US" sz="1600" dirty="0">
                <a:solidFill>
                  <a:srgbClr val="0D1B2A"/>
                </a:solidFill>
              </a:rPr>
              <a:t>fold_0 + fold_1 → train  |  fold_2 → val (fixed split, not rotated)</a:t>
            </a:r>
          </a:p>
          <a:p>
            <a:pPr marL="228600" indent="-228600" algn="l">
              <a:buChar char="•"/>
            </a:pPr>
            <a:r>
              <a:rPr lang="en-US" sz="1600" dirty="0">
                <a:solidFill>
                  <a:srgbClr val="0D1B2A"/>
                </a:solidFill>
              </a:rPr>
              <a:t>Patient-aware split: reduces learning of patient-specific patterns</a:t>
            </a:r>
          </a:p>
          <a:p>
            <a:pPr marL="228600" indent="-228600" algn="l">
              <a:buChar char="•"/>
            </a:pPr>
            <a:r>
              <a:rPr lang="en-US" sz="1600" dirty="0">
                <a:solidFill>
                  <a:srgbClr val="0D1B2A"/>
                </a:solidFill>
              </a:rPr>
              <a:t>Held-out test set untouched until final eval</a:t>
            </a:r>
          </a:p>
        </p:txBody>
      </p:sp>
      <p:sp>
        <p:nvSpPr>
          <p:cNvPr id="41" name="TrainBox"/>
          <p:cNvSpPr/>
          <p:nvPr/>
        </p:nvSpPr>
        <p:spPr>
          <a:xfrm>
            <a:off x="7393380" y="3954540"/>
            <a:ext cx="4246560" cy="1920240"/>
          </a:xfrm>
          <a:prstGeom prst="rect">
            <a:avLst/>
          </a:prstGeom>
          <a:solidFill>
            <a:srgbClr val="EBF5FB"/>
          </a:solidFill>
          <a:ln w="9525">
            <a:solidFill>
              <a:srgbClr val="0D1B2A"/>
            </a:solidFill>
          </a:ln>
        </p:spPr>
        <p:txBody>
          <a:bodyPr wrap="square" lIns="182880" tIns="137160" rIns="182880" bIns="91440" anchor="t"/>
          <a:lstStyle/>
          <a:p>
            <a:pPr algn="l">
              <a:buNone/>
            </a:pPr>
            <a:r>
              <a:rPr lang="en-US" sz="1600" b="1" dirty="0">
                <a:solidFill>
                  <a:srgbClr val="0D1B2A"/>
                </a:solidFill>
              </a:rPr>
              <a:t>Training Protocol</a:t>
            </a:r>
          </a:p>
          <a:p>
            <a:pPr marL="228600" indent="-228600" algn="l">
              <a:buChar char="•"/>
            </a:pPr>
            <a:r>
              <a:rPr lang="en-US" sz="1600" dirty="0">
                <a:solidFill>
                  <a:srgbClr val="0D1B2A"/>
                </a:solidFill>
              </a:rPr>
              <a:t>Phase 1: Train new head only (feature extraction)</a:t>
            </a:r>
          </a:p>
          <a:p>
            <a:pPr marL="228600" indent="-228600" algn="l">
              <a:buChar char="•"/>
            </a:pPr>
            <a:r>
              <a:rPr lang="en-US" sz="1600" dirty="0">
                <a:solidFill>
                  <a:srgbClr val="0D1B2A"/>
                </a:solidFill>
              </a:rPr>
              <a:t>Phase 2: Unfreeze full network, lower LR (fine-tuning) </a:t>
            </a:r>
          </a:p>
          <a:p>
            <a:pPr marL="228600" indent="-228600" algn="l">
              <a:buChar char="•"/>
            </a:pPr>
            <a:r>
              <a:rPr lang="en-US" sz="1600" dirty="0">
                <a:solidFill>
                  <a:srgbClr val="0D1B2A"/>
                </a:solidFill>
              </a:rPr>
              <a:t>Adam optimizer, up to 30 epochs, early stopping on val. F1</a:t>
            </a:r>
          </a:p>
        </p:txBody>
      </p:sp>
    </p:spTree>
    <p:extLst>
      <p:ext uri="{BB962C8B-B14F-4D97-AF65-F5344CB8AC3E}">
        <p14:creationId xmlns:p14="http://schemas.microsoft.com/office/powerpoint/2010/main" val="3089829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68227-69B7-CBCE-3F07-77886AD44C22}"/>
              </a:ext>
            </a:extLst>
          </p:cNvPr>
          <p:cNvSpPr>
            <a:spLocks noGrp="1"/>
          </p:cNvSpPr>
          <p:nvPr>
            <p:ph type="title"/>
          </p:nvPr>
        </p:nvSpPr>
        <p:spPr>
          <a:xfrm>
            <a:off x="1051442" y="127000"/>
            <a:ext cx="10515600" cy="762000"/>
          </a:xfrm>
        </p:spPr>
        <p:txBody>
          <a:bodyPr/>
          <a:lstStyle/>
          <a:p>
            <a:pPr algn="ctr">
              <a:buNone/>
            </a:pPr>
            <a:r>
              <a:rPr lang="en-US" sz="2800" b="1" dirty="0">
                <a:solidFill>
                  <a:srgbClr val="0D1B2A"/>
                </a:solidFill>
              </a:rPr>
              <a:t>Tricky Analysis Decision</a:t>
            </a:r>
          </a:p>
        </p:txBody>
      </p:sp>
      <p:sp>
        <p:nvSpPr>
          <p:cNvPr id="10" name="SlideNum"/>
          <p:cNvSpPr/>
          <p:nvPr/>
        </p:nvSpPr>
        <p:spPr>
          <a:xfrm>
            <a:off x="8686080" y="5029200"/>
            <a:ext cx="457920" cy="228600"/>
          </a:xfrm>
          <a:prstGeom prst="rect">
            <a:avLst/>
          </a:prstGeom>
          <a:noFill/>
        </p:spPr>
        <p:txBody>
          <a:bodyPr anchor="ctr"/>
          <a:lstStyle/>
          <a:p>
            <a:pPr algn="r">
              <a:buNone/>
            </a:pPr>
            <a:r>
              <a:rPr lang="en-US" dirty="0">
                <a:solidFill>
                  <a:srgbClr val="7F8C8D"/>
                </a:solidFill>
              </a:rPr>
              <a:t>5</a:t>
            </a:r>
          </a:p>
        </p:txBody>
      </p:sp>
      <p:sp>
        <p:nvSpPr>
          <p:cNvPr id="11" name="DecisionLabel"/>
          <p:cNvSpPr/>
          <p:nvPr/>
        </p:nvSpPr>
        <p:spPr>
          <a:xfrm>
            <a:off x="2452802" y="782320"/>
            <a:ext cx="7772400" cy="548640"/>
          </a:xfrm>
          <a:prstGeom prst="roundRect">
            <a:avLst>
              <a:gd name="adj" fmla="val 10000"/>
            </a:avLst>
          </a:prstGeom>
          <a:solidFill>
            <a:srgbClr val="1A6BAD"/>
          </a:solidFill>
          <a:ln>
            <a:noFill/>
          </a:ln>
        </p:spPr>
        <p:txBody>
          <a:bodyPr wrap="square" lIns="182880" tIns="91440" rIns="182880" bIns="91440" anchor="ctr"/>
          <a:lstStyle/>
          <a:p>
            <a:pPr algn="ctr">
              <a:buNone/>
            </a:pPr>
            <a:r>
              <a:rPr lang="en-US" sz="2000" b="1" dirty="0">
                <a:solidFill>
                  <a:srgbClr val="FFFFFF"/>
                </a:solidFill>
              </a:rPr>
              <a:t>Decision: </a:t>
            </a:r>
            <a:r>
              <a:rPr lang="en-US" sz="2000" dirty="0">
                <a:solidFill>
                  <a:srgbClr val="FFFFFF"/>
                </a:solidFill>
              </a:rPr>
              <a:t>Choosing Weighted F1 Score as the Primary Evaluation Metric</a:t>
            </a:r>
          </a:p>
        </p:txBody>
      </p:sp>
      <p:sp>
        <p:nvSpPr>
          <p:cNvPr id="12" name="WhyTrickyH"/>
          <p:cNvSpPr/>
          <p:nvPr/>
        </p:nvSpPr>
        <p:spPr>
          <a:xfrm>
            <a:off x="1174384" y="1600200"/>
            <a:ext cx="3422355" cy="338614"/>
          </a:xfrm>
          <a:prstGeom prst="rect">
            <a:avLst/>
          </a:prstGeom>
          <a:solidFill>
            <a:srgbClr val="1A6BAD"/>
          </a:solidFill>
          <a:ln>
            <a:noFill/>
          </a:ln>
        </p:spPr>
        <p:txBody>
          <a:bodyPr lIns="114300" tIns="45720" rIns="114300" bIns="45720" anchor="ctr"/>
          <a:lstStyle/>
          <a:p>
            <a:pPr algn="ctr">
              <a:buNone/>
            </a:pPr>
            <a:r>
              <a:rPr lang="en-US" b="1" dirty="0">
                <a:solidFill>
                  <a:srgbClr val="FFFFFF"/>
                </a:solidFill>
              </a:rPr>
              <a:t>Why It Was Tricky</a:t>
            </a:r>
          </a:p>
        </p:txBody>
      </p:sp>
      <p:sp>
        <p:nvSpPr>
          <p:cNvPr id="13" name="WhyTrickyC"/>
          <p:cNvSpPr/>
          <p:nvPr/>
        </p:nvSpPr>
        <p:spPr>
          <a:xfrm>
            <a:off x="1174384" y="1874520"/>
            <a:ext cx="3422355" cy="3611880"/>
          </a:xfrm>
          <a:prstGeom prst="rect">
            <a:avLst/>
          </a:prstGeom>
          <a:solidFill>
            <a:srgbClr val="F2F8FD"/>
          </a:solidFill>
          <a:ln w="9525">
            <a:solidFill>
              <a:srgbClr val="D5E8F5"/>
            </a:solidFill>
          </a:ln>
        </p:spPr>
        <p:txBody>
          <a:bodyPr wrap="square" lIns="182880" tIns="137160" rIns="182880" bIns="91440" anchor="t"/>
          <a:lstStyle/>
          <a:p>
            <a:pPr marL="228600" indent="-228600" algn="ctr">
              <a:buChar char="•"/>
            </a:pPr>
            <a:r>
              <a:rPr lang="en-US" dirty="0">
                <a:solidFill>
                  <a:srgbClr val="0D1B2A"/>
                </a:solidFill>
              </a:rPr>
              <a:t>Multiple valid metrics exist (accuracy, precision, recall, F1)</a:t>
            </a:r>
          </a:p>
          <a:p>
            <a:pPr algn="ctr"/>
            <a:endParaRPr lang="en-US" dirty="0">
              <a:solidFill>
                <a:srgbClr val="0D1B2A"/>
              </a:solidFill>
            </a:endParaRPr>
          </a:p>
          <a:p>
            <a:pPr marL="228600" indent="-228600" algn="ctr">
              <a:buChar char="•"/>
            </a:pPr>
            <a:r>
              <a:rPr lang="en-US" dirty="0">
                <a:solidFill>
                  <a:srgbClr val="0D1B2A"/>
                </a:solidFill>
              </a:rPr>
              <a:t>Clinical stakes: false negatives (missed cancer) are far more costly than false positives</a:t>
            </a:r>
          </a:p>
        </p:txBody>
      </p:sp>
      <p:sp>
        <p:nvSpPr>
          <p:cNvPr id="14" name="WhyNotAccH"/>
          <p:cNvSpPr/>
          <p:nvPr/>
        </p:nvSpPr>
        <p:spPr>
          <a:xfrm>
            <a:off x="4596739" y="1600200"/>
            <a:ext cx="3422355" cy="338614"/>
          </a:xfrm>
          <a:prstGeom prst="rect">
            <a:avLst/>
          </a:prstGeom>
          <a:solidFill>
            <a:srgbClr val="C0392B"/>
          </a:solidFill>
          <a:ln>
            <a:noFill/>
          </a:ln>
        </p:spPr>
        <p:txBody>
          <a:bodyPr lIns="114300" tIns="45720" rIns="114300" bIns="45720" anchor="ctr"/>
          <a:lstStyle/>
          <a:p>
            <a:pPr algn="ctr">
              <a:buNone/>
            </a:pPr>
            <a:r>
              <a:rPr lang="en-US" b="1" dirty="0">
                <a:solidFill>
                  <a:srgbClr val="FFFFFF"/>
                </a:solidFill>
              </a:rPr>
              <a:t>Why Not Accuracy?</a:t>
            </a:r>
          </a:p>
        </p:txBody>
      </p:sp>
      <p:sp>
        <p:nvSpPr>
          <p:cNvPr id="15" name="WhyNotAccC"/>
          <p:cNvSpPr/>
          <p:nvPr/>
        </p:nvSpPr>
        <p:spPr>
          <a:xfrm>
            <a:off x="4596739" y="1874520"/>
            <a:ext cx="3422355" cy="3611880"/>
          </a:xfrm>
          <a:prstGeom prst="rect">
            <a:avLst/>
          </a:prstGeom>
          <a:solidFill>
            <a:srgbClr val="FDEDEC"/>
          </a:solidFill>
          <a:ln w="9525">
            <a:solidFill>
              <a:srgbClr val="E74C3C"/>
            </a:solidFill>
          </a:ln>
        </p:spPr>
        <p:txBody>
          <a:bodyPr wrap="square" lIns="182880" tIns="137160" rIns="182880" bIns="91440" anchor="t"/>
          <a:lstStyle/>
          <a:p>
            <a:pPr marL="228600" indent="-228600" algn="ctr">
              <a:buChar char="•"/>
            </a:pPr>
            <a:r>
              <a:rPr lang="en-US" dirty="0">
                <a:solidFill>
                  <a:srgbClr val="0D1B2A"/>
                </a:solidFill>
              </a:rPr>
              <a:t>A model predicting ALL for every case would achieve ~68% accuracy  but fail entirely on normal cells</a:t>
            </a:r>
          </a:p>
          <a:p>
            <a:pPr marL="228600" indent="-228600" algn="ctr">
              <a:buChar char="•"/>
            </a:pPr>
            <a:r>
              <a:rPr lang="en-US" dirty="0">
                <a:solidFill>
                  <a:srgbClr val="0D1B2A"/>
                </a:solidFill>
              </a:rPr>
              <a:t>Accuracy is misleading when classes are imbalanced</a:t>
            </a:r>
          </a:p>
        </p:txBody>
      </p:sp>
      <p:sp>
        <p:nvSpPr>
          <p:cNvPr id="16" name="ImpactH"/>
          <p:cNvSpPr/>
          <p:nvPr/>
        </p:nvSpPr>
        <p:spPr>
          <a:xfrm>
            <a:off x="8019094" y="1600200"/>
            <a:ext cx="3547948" cy="338614"/>
          </a:xfrm>
          <a:prstGeom prst="rect">
            <a:avLst/>
          </a:prstGeom>
          <a:solidFill>
            <a:srgbClr val="1E8449"/>
          </a:solidFill>
          <a:ln>
            <a:noFill/>
          </a:ln>
        </p:spPr>
        <p:txBody>
          <a:bodyPr lIns="114300" tIns="45720" rIns="114300" bIns="45720" anchor="ctr"/>
          <a:lstStyle/>
          <a:p>
            <a:pPr algn="ctr">
              <a:buNone/>
            </a:pPr>
            <a:r>
              <a:rPr lang="en-US" b="1" dirty="0">
                <a:solidFill>
                  <a:srgbClr val="FFFFFF"/>
                </a:solidFill>
              </a:rPr>
              <a:t>Impact</a:t>
            </a:r>
          </a:p>
        </p:txBody>
      </p:sp>
      <p:sp>
        <p:nvSpPr>
          <p:cNvPr id="17" name="ImpactC"/>
          <p:cNvSpPr/>
          <p:nvPr/>
        </p:nvSpPr>
        <p:spPr>
          <a:xfrm>
            <a:off x="8019094" y="1874520"/>
            <a:ext cx="3547948" cy="3611880"/>
          </a:xfrm>
          <a:prstGeom prst="rect">
            <a:avLst/>
          </a:prstGeom>
          <a:solidFill>
            <a:srgbClr val="EAFAF1"/>
          </a:solidFill>
          <a:ln w="9525">
            <a:solidFill>
              <a:srgbClr val="27AE60"/>
            </a:solidFill>
          </a:ln>
        </p:spPr>
        <p:txBody>
          <a:bodyPr wrap="square" lIns="182880" tIns="137160" rIns="182880" bIns="91440" anchor="t"/>
          <a:lstStyle/>
          <a:p>
            <a:pPr marL="228600" indent="-228600" algn="ctr">
              <a:buChar char="•"/>
            </a:pPr>
            <a:r>
              <a:rPr lang="en-US" dirty="0">
                <a:solidFill>
                  <a:srgbClr val="0D1B2A"/>
                </a:solidFill>
              </a:rPr>
              <a:t>Weighted F1 penalizes poor performance on both classes, gives a single number accounting for the imbalance</a:t>
            </a:r>
          </a:p>
          <a:p>
            <a:pPr marL="228600" indent="-228600" algn="ctr">
              <a:buChar char="•"/>
            </a:pPr>
            <a:r>
              <a:rPr lang="en-US" dirty="0">
                <a:solidFill>
                  <a:srgbClr val="0D1B2A"/>
                </a:solidFill>
              </a:rPr>
              <a:t>Explicit target: F1 &gt; 0.90 serves as our finish line for model selection and final evaluation</a:t>
            </a:r>
          </a:p>
          <a:p>
            <a:pPr marL="228600" indent="-228600" algn="ctr">
              <a:buChar char="•"/>
            </a:pPr>
            <a:r>
              <a:rPr lang="en-US" dirty="0">
                <a:solidFill>
                  <a:srgbClr val="0D1B2A"/>
                </a:solidFill>
              </a:rPr>
              <a:t>We also report precision, recall, confusion matrix for full transparency</a:t>
            </a:r>
          </a:p>
        </p:txBody>
      </p:sp>
    </p:spTree>
    <p:extLst>
      <p:ext uri="{BB962C8B-B14F-4D97-AF65-F5344CB8AC3E}">
        <p14:creationId xmlns:p14="http://schemas.microsoft.com/office/powerpoint/2010/main" val="789558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A8935-50AF-7535-1952-25F0393CE936}"/>
              </a:ext>
            </a:extLst>
          </p:cNvPr>
          <p:cNvSpPr>
            <a:spLocks noGrp="1"/>
          </p:cNvSpPr>
          <p:nvPr>
            <p:ph type="title"/>
          </p:nvPr>
        </p:nvSpPr>
        <p:spPr>
          <a:xfrm>
            <a:off x="838200" y="127000"/>
            <a:ext cx="10515600" cy="762000"/>
          </a:xfrm>
        </p:spPr>
        <p:txBody>
          <a:bodyPr>
            <a:normAutofit/>
          </a:bodyPr>
          <a:lstStyle/>
          <a:p>
            <a:pPr algn="ctr">
              <a:buNone/>
            </a:pPr>
            <a:r>
              <a:rPr lang="en-US" sz="3600" b="1" dirty="0">
                <a:solidFill>
                  <a:srgbClr val="0D1B2A"/>
                </a:solidFill>
              </a:rPr>
              <a:t>Bias &amp; Uncertainty Validation</a:t>
            </a:r>
          </a:p>
        </p:txBody>
      </p:sp>
      <p:sp>
        <p:nvSpPr>
          <p:cNvPr id="10" name="SlideNum"/>
          <p:cNvSpPr/>
          <p:nvPr/>
        </p:nvSpPr>
        <p:spPr>
          <a:xfrm>
            <a:off x="8686080" y="5029200"/>
            <a:ext cx="457920" cy="228600"/>
          </a:xfrm>
          <a:prstGeom prst="rect">
            <a:avLst/>
          </a:prstGeom>
          <a:noFill/>
        </p:spPr>
        <p:txBody>
          <a:bodyPr anchor="ctr"/>
          <a:lstStyle/>
          <a:p>
            <a:pPr algn="r">
              <a:buNone/>
            </a:pPr>
            <a:r>
              <a:rPr lang="en-US" sz="1400" dirty="0">
                <a:solidFill>
                  <a:srgbClr val="7F8C8D"/>
                </a:solidFill>
              </a:rPr>
              <a:t>6</a:t>
            </a:r>
          </a:p>
        </p:txBody>
      </p:sp>
      <p:sp>
        <p:nvSpPr>
          <p:cNvPr id="11" name="Card11"/>
          <p:cNvSpPr/>
          <p:nvPr/>
        </p:nvSpPr>
        <p:spPr>
          <a:xfrm>
            <a:off x="3937950" y="1284150"/>
            <a:ext cx="4748130" cy="2880000"/>
          </a:xfrm>
          <a:prstGeom prst="rect">
            <a:avLst/>
          </a:prstGeom>
          <a:solidFill>
            <a:srgbClr val="FDEDEC"/>
          </a:solidFill>
          <a:ln w="19050" cmpd="sng">
            <a:solidFill>
              <a:srgbClr val="E74C3C"/>
            </a:solidFill>
          </a:ln>
        </p:spPr>
        <p:txBody>
          <a:bodyPr wrap="square" lIns="182880" tIns="114300" rIns="182880" bIns="91440" anchor="t"/>
          <a:lstStyle/>
          <a:p>
            <a:pPr algn="l">
              <a:buNone/>
            </a:pPr>
            <a:r>
              <a:rPr lang="en-US" b="1" dirty="0">
                <a:solidFill>
                  <a:srgbClr val="E74C3C"/>
                </a:solidFill>
              </a:rPr>
              <a:t>1. Class Imbalance Bias</a:t>
            </a:r>
          </a:p>
          <a:p>
            <a:pPr marL="228600" indent="-228600" algn="l">
              <a:buChar char="•"/>
            </a:pPr>
            <a:r>
              <a:rPr lang="en-US" sz="1600" dirty="0">
                <a:solidFill>
                  <a:srgbClr val="0D1B2A"/>
                </a:solidFill>
              </a:rPr>
              <a:t>~2:1 ratio of ALL vs. normal images in training data</a:t>
            </a:r>
          </a:p>
          <a:p>
            <a:pPr marL="228600" indent="-228600" algn="l">
              <a:buChar char="•"/>
            </a:pPr>
            <a:r>
              <a:rPr lang="en-US" sz="1600" dirty="0">
                <a:solidFill>
                  <a:srgbClr val="0D1B2A"/>
                </a:solidFill>
              </a:rPr>
              <a:t>Fix: Weighted F1 more informative than accuracy; confusion matrix reported per class</a:t>
            </a:r>
          </a:p>
        </p:txBody>
      </p:sp>
      <p:sp>
        <p:nvSpPr>
          <p:cNvPr id="13" name="Card13"/>
          <p:cNvSpPr/>
          <p:nvPr/>
        </p:nvSpPr>
        <p:spPr>
          <a:xfrm>
            <a:off x="1539664" y="3273142"/>
            <a:ext cx="4748130" cy="2753008"/>
          </a:xfrm>
          <a:prstGeom prst="rect">
            <a:avLst/>
          </a:prstGeom>
          <a:solidFill>
            <a:srgbClr val="EBF5FB"/>
          </a:solidFill>
          <a:ln w="19050" cmpd="sng">
            <a:solidFill>
              <a:srgbClr val="1A6BAD"/>
            </a:solidFill>
          </a:ln>
        </p:spPr>
        <p:txBody>
          <a:bodyPr wrap="square" lIns="182880" tIns="114300" rIns="182880" bIns="91440" anchor="t"/>
          <a:lstStyle/>
          <a:p>
            <a:pPr algn="l">
              <a:buNone/>
            </a:pPr>
            <a:r>
              <a:rPr lang="en-US" b="1" dirty="0">
                <a:solidFill>
                  <a:srgbClr val="1A6BAD"/>
                </a:solidFill>
              </a:rPr>
              <a:t>2. Augmentation Validity</a:t>
            </a:r>
          </a:p>
          <a:p>
            <a:pPr marL="228600" indent="-228600" algn="l">
              <a:buChar char="•"/>
            </a:pPr>
            <a:r>
              <a:rPr lang="en-US" sz="1600" dirty="0">
                <a:solidFill>
                  <a:srgbClr val="0D1B2A"/>
                </a:solidFill>
              </a:rPr>
              <a:t>Augmentation artificially expands training, could introduce unrealistic image variations</a:t>
            </a:r>
          </a:p>
          <a:p>
            <a:pPr marL="228600" indent="-228600" algn="l">
              <a:buChar char="•"/>
            </a:pPr>
            <a:r>
              <a:rPr lang="en-US" sz="1600" dirty="0">
                <a:solidFill>
                  <a:srgbClr val="0D1B2A"/>
                </a:solidFill>
              </a:rPr>
              <a:t>Fix: Only apply to training images; biologically plausible transforms (flips, mild rotation, color jitter)</a:t>
            </a:r>
          </a:p>
          <a:p>
            <a:pPr marL="228600" indent="-228600" algn="l">
              <a:buChar char="•"/>
            </a:pPr>
            <a:r>
              <a:rPr lang="en-US" sz="1600" dirty="0">
                <a:solidFill>
                  <a:srgbClr val="0D1B2A"/>
                </a:solidFill>
              </a:rPr>
              <a:t>Uncertainty: Augmentation strength is a tunable hyperparameter validated on val. F1</a:t>
            </a:r>
          </a:p>
        </p:txBody>
      </p:sp>
      <p:sp>
        <p:nvSpPr>
          <p:cNvPr id="14" name="Card14"/>
          <p:cNvSpPr/>
          <p:nvPr/>
        </p:nvSpPr>
        <p:spPr>
          <a:xfrm>
            <a:off x="6287794" y="3273142"/>
            <a:ext cx="4796572" cy="2753008"/>
          </a:xfrm>
          <a:prstGeom prst="rect">
            <a:avLst/>
          </a:prstGeom>
          <a:solidFill>
            <a:srgbClr val="FEF9E7"/>
          </a:solidFill>
          <a:ln w="19050" cmpd="sng">
            <a:solidFill>
              <a:srgbClr val="F39C12"/>
            </a:solidFill>
          </a:ln>
        </p:spPr>
        <p:txBody>
          <a:bodyPr wrap="square" lIns="182880" tIns="114300" rIns="182880" bIns="91440" anchor="t"/>
          <a:lstStyle/>
          <a:p>
            <a:pPr algn="l">
              <a:buNone/>
            </a:pPr>
            <a:r>
              <a:rPr lang="en-US" b="1" dirty="0">
                <a:solidFill>
                  <a:srgbClr val="F39C12"/>
                </a:solidFill>
              </a:rPr>
              <a:t>3. Unknown Visual Confounders</a:t>
            </a:r>
          </a:p>
          <a:p>
            <a:pPr marL="228600" indent="-228600" algn="l">
              <a:buChar char="•"/>
            </a:pPr>
            <a:r>
              <a:rPr lang="en-US" sz="1600" dirty="0">
                <a:solidFill>
                  <a:srgbClr val="0D1B2A"/>
                </a:solidFill>
              </a:rPr>
              <a:t>Brightness and staining variations may correlate with class label,  model may exploit these shortcuts</a:t>
            </a:r>
          </a:p>
          <a:p>
            <a:pPr marL="228600" indent="-228600" algn="l">
              <a:buChar char="•"/>
            </a:pPr>
            <a:r>
              <a:rPr lang="en-US" sz="1600" dirty="0">
                <a:solidFill>
                  <a:srgbClr val="0D1B2A"/>
                </a:solidFill>
              </a:rPr>
              <a:t>Fix: Color jitter augmentation reduces reliance on absolute color/brightness cues</a:t>
            </a:r>
          </a:p>
          <a:p>
            <a:pPr marL="228600" indent="-228600" algn="l">
              <a:buChar char="•"/>
            </a:pPr>
            <a:r>
              <a:rPr lang="en-US" sz="1600" dirty="0">
                <a:solidFill>
                  <a:srgbClr val="0D1B2A"/>
                </a:solidFill>
              </a:rPr>
              <a:t>Results confirm concern: hem recall = 0.29 vs. ALL recall = 0.96 — model over-predicts leukemia, consistent with brightness shortcuts. Color jitter helped but did not fully resolve the gap.</a:t>
            </a:r>
          </a:p>
        </p:txBody>
      </p:sp>
    </p:spTree>
    <p:extLst>
      <p:ext uri="{BB962C8B-B14F-4D97-AF65-F5344CB8AC3E}">
        <p14:creationId xmlns:p14="http://schemas.microsoft.com/office/powerpoint/2010/main" val="2109572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6EB73-7844-A441-B890-14F144AAF428}"/>
              </a:ext>
            </a:extLst>
          </p:cNvPr>
          <p:cNvSpPr>
            <a:spLocks noGrp="1"/>
          </p:cNvSpPr>
          <p:nvPr>
            <p:ph type="title"/>
          </p:nvPr>
        </p:nvSpPr>
        <p:spPr>
          <a:xfrm>
            <a:off x="1159350" y="56515"/>
            <a:ext cx="10515600" cy="762000"/>
          </a:xfrm>
        </p:spPr>
        <p:txBody>
          <a:bodyPr/>
          <a:lstStyle/>
          <a:p>
            <a:pPr algn="ctr">
              <a:buNone/>
            </a:pPr>
            <a:r>
              <a:rPr lang="en-US" sz="2800" b="1" dirty="0">
                <a:solidFill>
                  <a:srgbClr val="0D1B2A"/>
                </a:solidFill>
              </a:rPr>
              <a:t>Results &amp; Conclusions</a:t>
            </a:r>
          </a:p>
        </p:txBody>
      </p:sp>
      <p:sp>
        <p:nvSpPr>
          <p:cNvPr id="10" name="SlideNum"/>
          <p:cNvSpPr/>
          <p:nvPr/>
        </p:nvSpPr>
        <p:spPr>
          <a:xfrm>
            <a:off x="8686080" y="5029200"/>
            <a:ext cx="457920" cy="228600"/>
          </a:xfrm>
          <a:prstGeom prst="rect">
            <a:avLst/>
          </a:prstGeom>
          <a:noFill/>
        </p:spPr>
        <p:txBody>
          <a:bodyPr anchor="ctr"/>
          <a:lstStyle/>
          <a:p>
            <a:pPr algn="r">
              <a:buNone/>
            </a:pPr>
            <a:r>
              <a:rPr lang="en-US" sz="1400" dirty="0">
                <a:solidFill>
                  <a:srgbClr val="7F8C8D"/>
                </a:solidFill>
              </a:rPr>
              <a:t>7</a:t>
            </a:r>
          </a:p>
        </p:txBody>
      </p:sp>
      <p:sp>
        <p:nvSpPr>
          <p:cNvPr id="22" name="ConclusionNote"/>
          <p:cNvSpPr/>
          <p:nvPr/>
        </p:nvSpPr>
        <p:spPr>
          <a:xfrm>
            <a:off x="971550" y="758855"/>
            <a:ext cx="10896600" cy="1262380"/>
          </a:xfrm>
          <a:prstGeom prst="rect">
            <a:avLst/>
          </a:prstGeom>
          <a:solidFill>
            <a:srgbClr val="EBF5FB"/>
          </a:solidFill>
          <a:ln w="9525">
            <a:solidFill>
              <a:srgbClr val="1A6BAD"/>
            </a:solidFill>
          </a:ln>
        </p:spPr>
        <p:txBody>
          <a:bodyPr wrap="square" lIns="182880" tIns="45720" rIns="182880" bIns="45720" anchor="ctr"/>
          <a:lstStyle/>
          <a:p>
            <a:pPr algn="ctr">
              <a:buNone/>
            </a:pPr>
            <a:r>
              <a:rPr lang="en-US" sz="2000" b="1" dirty="0">
                <a:solidFill>
                  <a:srgbClr val="1A6BAD"/>
                </a:solidFill>
              </a:rPr>
              <a:t>Conclusion: </a:t>
            </a:r>
            <a:r>
              <a:rPr lang="en-US" sz="2000" b="1" dirty="0">
                <a:solidFill>
                  <a:srgbClr val="0D1B2A"/>
                </a:solidFill>
              </a:rPr>
              <a:t>Conclusion: ResNet50 was the best backbone (Val F1 = 0.87), but test Weighted F1 = 0.68 did not meet the 0.90 target. This was driven by low recall on normal (hem) cells (0.29). Further exploration/tuning is required to reach the goal F1 Metric</a:t>
            </a:r>
          </a:p>
        </p:txBody>
      </p:sp>
      <p:pic>
        <p:nvPicPr>
          <p:cNvPr id="23" name="Picture 22" descr="training_curves.png"/>
          <p:cNvPicPr>
            <a:picLocks noChangeAspect="1"/>
          </p:cNvPicPr>
          <p:nvPr/>
        </p:nvPicPr>
        <p:blipFill>
          <a:blip r:embed="rId3"/>
          <a:stretch>
            <a:fillRect/>
          </a:stretch>
        </p:blipFill>
        <p:spPr>
          <a:xfrm>
            <a:off x="737955" y="2364134"/>
            <a:ext cx="5732483" cy="4056543"/>
          </a:xfrm>
          <a:prstGeom prst="rect">
            <a:avLst/>
          </a:prstGeom>
        </p:spPr>
      </p:pic>
      <p:pic>
        <p:nvPicPr>
          <p:cNvPr id="25" name="Picture 24" descr="model_comparison.png"/>
          <p:cNvPicPr>
            <a:picLocks noChangeAspect="1"/>
          </p:cNvPicPr>
          <p:nvPr/>
        </p:nvPicPr>
        <p:blipFill>
          <a:blip r:embed="rId4"/>
          <a:stretch>
            <a:fillRect/>
          </a:stretch>
        </p:blipFill>
        <p:spPr>
          <a:xfrm>
            <a:off x="6470439" y="2364135"/>
            <a:ext cx="5721561" cy="4437350"/>
          </a:xfrm>
          <a:prstGeom prst="rect">
            <a:avLst/>
          </a:prstGeom>
        </p:spPr>
      </p:pic>
    </p:spTree>
    <p:extLst>
      <p:ext uri="{BB962C8B-B14F-4D97-AF65-F5344CB8AC3E}">
        <p14:creationId xmlns:p14="http://schemas.microsoft.com/office/powerpoint/2010/main" val="2556908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25337-CA7B-2698-6F7E-596CAF70CD0F}"/>
              </a:ext>
            </a:extLst>
          </p:cNvPr>
          <p:cNvSpPr>
            <a:spLocks noGrp="1"/>
          </p:cNvSpPr>
          <p:nvPr>
            <p:ph type="title"/>
          </p:nvPr>
        </p:nvSpPr>
        <p:spPr/>
        <p:txBody>
          <a:bodyPr/>
          <a:lstStyle/>
          <a:p>
            <a:pPr algn="ctr"/>
            <a:r>
              <a:rPr lang="en-US" dirty="0"/>
              <a:t>Confusion Matrix</a:t>
            </a:r>
          </a:p>
        </p:txBody>
      </p:sp>
      <p:pic>
        <p:nvPicPr>
          <p:cNvPr id="4" name="Picture 3" descr="confusion_matrix.png">
            <a:extLst>
              <a:ext uri="{FF2B5EF4-FFF2-40B4-BE49-F238E27FC236}">
                <a16:creationId xmlns:a16="http://schemas.microsoft.com/office/drawing/2014/main" id="{27EDEFE8-175E-3175-FA4A-06F32F8B9520}"/>
              </a:ext>
            </a:extLst>
          </p:cNvPr>
          <p:cNvPicPr>
            <a:picLocks noChangeAspect="1"/>
          </p:cNvPicPr>
          <p:nvPr/>
        </p:nvPicPr>
        <p:blipFill>
          <a:blip r:embed="rId3"/>
          <a:stretch>
            <a:fillRect/>
          </a:stretch>
        </p:blipFill>
        <p:spPr>
          <a:xfrm>
            <a:off x="2962493" y="1690688"/>
            <a:ext cx="6267014" cy="4673088"/>
          </a:xfrm>
          <a:prstGeom prst="rect">
            <a:avLst/>
          </a:prstGeom>
        </p:spPr>
      </p:pic>
    </p:spTree>
    <p:extLst>
      <p:ext uri="{BB962C8B-B14F-4D97-AF65-F5344CB8AC3E}">
        <p14:creationId xmlns:p14="http://schemas.microsoft.com/office/powerpoint/2010/main" val="2677272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C3615-2797-B080-A12A-993D5A9CFA1C}"/>
              </a:ext>
            </a:extLst>
          </p:cNvPr>
          <p:cNvSpPr>
            <a:spLocks noGrp="1"/>
          </p:cNvSpPr>
          <p:nvPr>
            <p:ph type="title"/>
          </p:nvPr>
        </p:nvSpPr>
        <p:spPr>
          <a:xfrm>
            <a:off x="838200" y="127000"/>
            <a:ext cx="10515600" cy="762000"/>
          </a:xfrm>
        </p:spPr>
        <p:txBody>
          <a:bodyPr/>
          <a:lstStyle/>
          <a:p>
            <a:pPr algn="ctr">
              <a:buNone/>
            </a:pPr>
            <a:r>
              <a:rPr lang="en-US" sz="2800" b="1" dirty="0">
                <a:solidFill>
                  <a:srgbClr val="0D1B2A"/>
                </a:solidFill>
              </a:rPr>
              <a:t>Next Steps</a:t>
            </a:r>
          </a:p>
        </p:txBody>
      </p:sp>
      <p:sp>
        <p:nvSpPr>
          <p:cNvPr id="10" name="SlideNum"/>
          <p:cNvSpPr/>
          <p:nvPr/>
        </p:nvSpPr>
        <p:spPr>
          <a:xfrm>
            <a:off x="8686080" y="5029200"/>
            <a:ext cx="457920" cy="228600"/>
          </a:xfrm>
          <a:prstGeom prst="rect">
            <a:avLst/>
          </a:prstGeom>
          <a:noFill/>
        </p:spPr>
        <p:txBody>
          <a:bodyPr anchor="ctr"/>
          <a:lstStyle/>
          <a:p>
            <a:pPr algn="r">
              <a:buNone/>
            </a:pPr>
            <a:r>
              <a:rPr lang="en-US" sz="1400" dirty="0">
                <a:solidFill>
                  <a:srgbClr val="7F8C8D"/>
                </a:solidFill>
              </a:rPr>
              <a:t>8</a:t>
            </a:r>
          </a:p>
        </p:txBody>
      </p:sp>
      <p:sp>
        <p:nvSpPr>
          <p:cNvPr id="12" name="ColH12"/>
          <p:cNvSpPr/>
          <p:nvPr/>
        </p:nvSpPr>
        <p:spPr>
          <a:xfrm>
            <a:off x="2785046" y="1096920"/>
            <a:ext cx="3467100" cy="274320"/>
          </a:xfrm>
          <a:prstGeom prst="rect">
            <a:avLst/>
          </a:prstGeom>
          <a:solidFill>
            <a:srgbClr val="21618C"/>
          </a:solidFill>
          <a:ln>
            <a:noFill/>
          </a:ln>
        </p:spPr>
        <p:txBody>
          <a:bodyPr lIns="114300" tIns="45720" rIns="114300" bIns="45720" anchor="ctr"/>
          <a:lstStyle/>
          <a:p>
            <a:pPr algn="ctr">
              <a:buNone/>
            </a:pPr>
            <a:r>
              <a:rPr lang="en-US" sz="1600" b="1" dirty="0">
                <a:solidFill>
                  <a:srgbClr val="FFFFFF"/>
                </a:solidFill>
              </a:rPr>
              <a:t>Improvements</a:t>
            </a:r>
          </a:p>
        </p:txBody>
      </p:sp>
      <p:sp>
        <p:nvSpPr>
          <p:cNvPr id="15" name="ColC12"/>
          <p:cNvSpPr/>
          <p:nvPr/>
        </p:nvSpPr>
        <p:spPr>
          <a:xfrm>
            <a:off x="2785046" y="1371240"/>
            <a:ext cx="3467100" cy="3886560"/>
          </a:xfrm>
          <a:prstGeom prst="rect">
            <a:avLst/>
          </a:prstGeom>
          <a:solidFill>
            <a:srgbClr val="EBF5FB"/>
          </a:solidFill>
          <a:ln w="9525">
            <a:solidFill>
              <a:srgbClr val="1A6BAD"/>
            </a:solidFill>
          </a:ln>
        </p:spPr>
        <p:txBody>
          <a:bodyPr wrap="square" lIns="182880" tIns="182880" rIns="182880" bIns="91440" anchor="t"/>
          <a:lstStyle/>
          <a:p>
            <a:pPr marL="228600" indent="-228600" algn="l">
              <a:buChar char="•"/>
            </a:pPr>
            <a:r>
              <a:rPr lang="en-US" sz="2000" dirty="0">
                <a:solidFill>
                  <a:srgbClr val="0D1B2A"/>
                </a:solidFill>
              </a:rPr>
              <a:t>Explore ways to improve the fine tuning process to improve model performance</a:t>
            </a:r>
          </a:p>
          <a:p>
            <a:pPr marL="228600" indent="-228600" algn="l">
              <a:buChar char="•"/>
            </a:pPr>
            <a:r>
              <a:rPr lang="en-US" sz="2000" dirty="0">
                <a:solidFill>
                  <a:srgbClr val="0D1B2A"/>
                </a:solidFill>
              </a:rPr>
              <a:t>Investigate ways to mitigate brightness-related overfitting</a:t>
            </a:r>
          </a:p>
        </p:txBody>
      </p:sp>
      <p:sp>
        <p:nvSpPr>
          <p:cNvPr id="13" name="ColH13"/>
          <p:cNvSpPr/>
          <p:nvPr/>
        </p:nvSpPr>
        <p:spPr>
          <a:xfrm>
            <a:off x="6252146" y="1096920"/>
            <a:ext cx="3467100" cy="274320"/>
          </a:xfrm>
          <a:prstGeom prst="rect">
            <a:avLst/>
          </a:prstGeom>
          <a:solidFill>
            <a:srgbClr val="8E44AD"/>
          </a:solidFill>
          <a:ln>
            <a:noFill/>
          </a:ln>
        </p:spPr>
        <p:txBody>
          <a:bodyPr lIns="114300" tIns="45720" rIns="114300" bIns="45720" anchor="ctr"/>
          <a:lstStyle/>
          <a:p>
            <a:pPr algn="ctr">
              <a:buNone/>
            </a:pPr>
            <a:r>
              <a:rPr lang="en-US" sz="2000" b="1" dirty="0">
                <a:solidFill>
                  <a:srgbClr val="FFFFFF"/>
                </a:solidFill>
              </a:rPr>
              <a:t>Open Questions</a:t>
            </a:r>
          </a:p>
        </p:txBody>
      </p:sp>
      <p:sp>
        <p:nvSpPr>
          <p:cNvPr id="16" name="ColC13"/>
          <p:cNvSpPr/>
          <p:nvPr/>
        </p:nvSpPr>
        <p:spPr>
          <a:xfrm>
            <a:off x="6252146" y="1371240"/>
            <a:ext cx="3467100" cy="3886560"/>
          </a:xfrm>
          <a:prstGeom prst="rect">
            <a:avLst/>
          </a:prstGeom>
          <a:solidFill>
            <a:srgbClr val="F5EEF8"/>
          </a:solidFill>
          <a:ln w="9525">
            <a:solidFill>
              <a:srgbClr val="8E44AD"/>
            </a:solidFill>
          </a:ln>
        </p:spPr>
        <p:txBody>
          <a:bodyPr wrap="square" lIns="182880" tIns="182880" rIns="182880" bIns="91440" anchor="t"/>
          <a:lstStyle/>
          <a:p>
            <a:pPr marL="228600" indent="-228600" algn="l">
              <a:buChar char="•"/>
            </a:pPr>
            <a:r>
              <a:rPr lang="en-US" sz="2000" dirty="0">
                <a:solidFill>
                  <a:srgbClr val="0D1B2A"/>
                </a:solidFill>
              </a:rPr>
              <a:t>Does the model generalize to images from different staining protocols or imaging equipment?</a:t>
            </a:r>
          </a:p>
          <a:p>
            <a:pPr marL="228600" indent="-228600" algn="l">
              <a:buChar char="•"/>
            </a:pPr>
            <a:r>
              <a:rPr lang="en-US" sz="2000" dirty="0">
                <a:solidFill>
                  <a:srgbClr val="0D1B2A"/>
                </a:solidFill>
              </a:rPr>
              <a:t>Can the classifier performance scale to multi-class ALL subtype detection?</a:t>
            </a:r>
          </a:p>
          <a:p>
            <a:pPr marL="228600" indent="-228600" algn="l">
              <a:buChar char="•"/>
            </a:pPr>
            <a:r>
              <a:rPr lang="en-US" sz="2000" dirty="0">
                <a:solidFill>
                  <a:srgbClr val="0D1B2A"/>
                </a:solidFill>
              </a:rPr>
              <a:t>Are there patient-level or slide-level features still driving predictions despite our controls?</a:t>
            </a:r>
          </a:p>
        </p:txBody>
      </p:sp>
    </p:spTree>
    <p:extLst>
      <p:ext uri="{BB962C8B-B14F-4D97-AF65-F5344CB8AC3E}">
        <p14:creationId xmlns:p14="http://schemas.microsoft.com/office/powerpoint/2010/main" val="3060634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DCB01-FD2B-4E5B-CEE1-FDBF739EBC7C}"/>
              </a:ext>
            </a:extLst>
          </p:cNvPr>
          <p:cNvSpPr>
            <a:spLocks noGrp="1"/>
          </p:cNvSpPr>
          <p:nvPr>
            <p:ph type="title"/>
          </p:nvPr>
        </p:nvSpPr>
        <p:spPr>
          <a:xfrm>
            <a:off x="838200" y="209145"/>
            <a:ext cx="10515600" cy="762000"/>
          </a:xfrm>
        </p:spPr>
        <p:txBody>
          <a:bodyPr/>
          <a:lstStyle/>
          <a:p>
            <a:pPr algn="l">
              <a:buNone/>
            </a:pPr>
            <a:r>
              <a:rPr lang="en-US" sz="2800" b="1" dirty="0">
                <a:solidFill>
                  <a:srgbClr val="0D1B2A"/>
                </a:solidFill>
              </a:rPr>
              <a:t>References</a:t>
            </a:r>
          </a:p>
        </p:txBody>
      </p:sp>
      <p:sp>
        <p:nvSpPr>
          <p:cNvPr id="10" name="SlideNum"/>
          <p:cNvSpPr/>
          <p:nvPr/>
        </p:nvSpPr>
        <p:spPr>
          <a:xfrm>
            <a:off x="8686080" y="5029200"/>
            <a:ext cx="457920" cy="228600"/>
          </a:xfrm>
          <a:prstGeom prst="rect">
            <a:avLst/>
          </a:prstGeom>
          <a:noFill/>
        </p:spPr>
        <p:txBody>
          <a:bodyPr anchor="ctr"/>
          <a:lstStyle/>
          <a:p>
            <a:pPr algn="r">
              <a:buNone/>
            </a:pPr>
            <a:r>
              <a:rPr lang="en-US" sz="1400" dirty="0">
                <a:solidFill>
                  <a:srgbClr val="7F8C8D"/>
                </a:solidFill>
              </a:rPr>
              <a:t>9</a:t>
            </a:r>
          </a:p>
        </p:txBody>
      </p:sp>
      <p:sp>
        <p:nvSpPr>
          <p:cNvPr id="11" name="RefsBox"/>
          <p:cNvSpPr/>
          <p:nvPr/>
        </p:nvSpPr>
        <p:spPr>
          <a:xfrm>
            <a:off x="838200" y="1663429"/>
            <a:ext cx="8457120" cy="3044757"/>
          </a:xfrm>
          <a:prstGeom prst="rect">
            <a:avLst/>
          </a:prstGeom>
          <a:solidFill>
            <a:srgbClr val="F2F8FD"/>
          </a:solidFill>
          <a:ln w="9525">
            <a:solidFill>
              <a:srgbClr val="1A6BAD"/>
            </a:solidFill>
          </a:ln>
        </p:spPr>
        <p:txBody>
          <a:bodyPr wrap="square" lIns="182880" tIns="137160" rIns="182880" bIns="91440" anchor="t"/>
          <a:lstStyle/>
          <a:p>
            <a:pPr>
              <a:buNone/>
            </a:pPr>
            <a:r>
              <a:rPr lang="en-US" sz="2000" b="1" dirty="0">
                <a:solidFill>
                  <a:srgbClr val="1A6BAD"/>
                </a:solidFill>
              </a:rPr>
              <a:t>References</a:t>
            </a:r>
          </a:p>
          <a:p>
            <a:pPr marL="457200" indent="-457200">
              <a:buNone/>
            </a:pPr>
            <a:r>
              <a:rPr lang="en-US" sz="2000" dirty="0">
                <a:solidFill>
                  <a:srgbClr val="0D1B2A"/>
                </a:solidFill>
              </a:rPr>
              <a:t>[1] American Cancer Society. "Key Statistics for Childhood Leukemia." 2023. https://www.cancer.org/cancer/types/leukemia-in-children/key-statistics.html</a:t>
            </a:r>
          </a:p>
          <a:p>
            <a:pPr marL="457200" indent="-457200">
              <a:buNone/>
            </a:pPr>
            <a:r>
              <a:rPr lang="en-US" sz="2000" dirty="0">
                <a:solidFill>
                  <a:srgbClr val="0D1B2A"/>
                </a:solidFill>
              </a:rPr>
              <a:t>[2] The Cancer Imaging Archive. "C-NMC-2019." https://www.cancerimagingarchive.net/collection/c-nmc-2019/</a:t>
            </a:r>
          </a:p>
          <a:p>
            <a:pPr marL="457200" indent="-457200">
              <a:buNone/>
            </a:pPr>
            <a:r>
              <a:rPr lang="en-US" sz="2000" dirty="0">
                <a:solidFill>
                  <a:srgbClr val="0D1B2A"/>
                </a:solidFill>
              </a:rPr>
              <a:t>[3] S. J. Pan and Q. Yang, "A survey on transfer learning," IEEE Trans. Knowl. Data Eng., vol. 22, no. 10, pp. 1345–1359, Oct. 2010.</a:t>
            </a:r>
          </a:p>
          <a:p>
            <a:pPr marL="457200" indent="-457200"/>
            <a:r>
              <a:rPr lang="en-US" sz="2000" dirty="0">
                <a:solidFill>
                  <a:srgbClr val="0D1B2A"/>
                </a:solidFill>
              </a:rPr>
              <a:t>[4] GitHub Repository: https://</a:t>
            </a:r>
            <a:r>
              <a:rPr lang="en-US" sz="2000" dirty="0" err="1">
                <a:solidFill>
                  <a:srgbClr val="0D1B2A"/>
                </a:solidFill>
              </a:rPr>
              <a:t>github.com</a:t>
            </a:r>
            <a:r>
              <a:rPr lang="en-US" sz="2000" dirty="0">
                <a:solidFill>
                  <a:srgbClr val="0D1B2A"/>
                </a:solidFill>
              </a:rPr>
              <a:t>/</a:t>
            </a:r>
            <a:r>
              <a:rPr lang="en-US" sz="2000" dirty="0" err="1">
                <a:solidFill>
                  <a:srgbClr val="0D1B2A"/>
                </a:solidFill>
              </a:rPr>
              <a:t>shainabanduri</a:t>
            </a:r>
            <a:r>
              <a:rPr lang="en-US" sz="2000" dirty="0">
                <a:solidFill>
                  <a:srgbClr val="0D1B2A"/>
                </a:solidFill>
              </a:rPr>
              <a:t>/Project-3-DS4002</a:t>
            </a:r>
          </a:p>
        </p:txBody>
      </p:sp>
    </p:spTree>
    <p:extLst>
      <p:ext uri="{BB962C8B-B14F-4D97-AF65-F5344CB8AC3E}">
        <p14:creationId xmlns:p14="http://schemas.microsoft.com/office/powerpoint/2010/main" val="3451331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LeftBar"/>
          <p:cNvSpPr/>
          <p:nvPr/>
        </p:nvSpPr>
        <p:spPr>
          <a:xfrm>
            <a:off x="0" y="0"/>
            <a:ext cx="685800" cy="6858000"/>
          </a:xfrm>
          <a:prstGeom prst="rect">
            <a:avLst/>
          </a:prstGeom>
          <a:solidFill>
            <a:srgbClr val="1A6BAD"/>
          </a:solidFill>
          <a:ln>
            <a:noFill/>
          </a:ln>
        </p:spPr>
        <p:txBody>
          <a:bodyPr/>
          <a:lstStyle/>
          <a:p>
            <a:endParaRPr/>
          </a:p>
        </p:txBody>
      </p:sp>
      <p:sp>
        <p:nvSpPr>
          <p:cNvPr id="3" name="AccentStripe"/>
          <p:cNvSpPr/>
          <p:nvPr/>
        </p:nvSpPr>
        <p:spPr>
          <a:xfrm>
            <a:off x="685800" y="0"/>
            <a:ext cx="45720" cy="6858000"/>
          </a:xfrm>
          <a:prstGeom prst="rect">
            <a:avLst/>
          </a:prstGeom>
          <a:solidFill>
            <a:srgbClr val="2E86AB"/>
          </a:solidFill>
          <a:ln>
            <a:noFill/>
          </a:ln>
        </p:spPr>
        <p:txBody>
          <a:bodyPr/>
          <a:lstStyle/>
          <a:p>
            <a:endParaRPr/>
          </a:p>
        </p:txBody>
      </p:sp>
      <p:sp>
        <p:nvSpPr>
          <p:cNvPr id="4" name="ThankYou"/>
          <p:cNvSpPr/>
          <p:nvPr/>
        </p:nvSpPr>
        <p:spPr>
          <a:xfrm>
            <a:off x="822960" y="685800"/>
            <a:ext cx="8230680" cy="1371600"/>
          </a:xfrm>
          <a:prstGeom prst="rect">
            <a:avLst/>
          </a:prstGeom>
          <a:noFill/>
        </p:spPr>
        <p:txBody>
          <a:bodyPr wrap="square" lIns="0" tIns="45720" rIns="0" bIns="45720" anchor="ctr"/>
          <a:lstStyle/>
          <a:p>
            <a:pPr algn="l">
              <a:buNone/>
            </a:pPr>
            <a:r>
              <a:rPr lang="en-US" sz="5400" b="1" dirty="0">
                <a:solidFill>
                  <a:srgbClr val="FFFFFF"/>
                </a:solidFill>
              </a:rPr>
              <a:t>Questions?</a:t>
            </a:r>
          </a:p>
        </p:txBody>
      </p:sp>
      <p:sp>
        <p:nvSpPr>
          <p:cNvPr id="5" name="UnderLine"/>
          <p:cNvSpPr/>
          <p:nvPr/>
        </p:nvSpPr>
        <p:spPr>
          <a:xfrm>
            <a:off x="822960" y="2148840"/>
            <a:ext cx="3200400" cy="45720"/>
          </a:xfrm>
          <a:prstGeom prst="rect">
            <a:avLst/>
          </a:prstGeom>
          <a:solidFill>
            <a:srgbClr val="1A6BAD"/>
          </a:solidFill>
          <a:ln>
            <a:noFill/>
          </a:ln>
        </p:spPr>
        <p:txBody>
          <a:bodyPr/>
          <a:lstStyle/>
          <a:p>
            <a:endParaRPr/>
          </a:p>
        </p:txBody>
      </p:sp>
    </p:spTree>
    <p:extLst>
      <p:ext uri="{BB962C8B-B14F-4D97-AF65-F5344CB8AC3E}">
        <p14:creationId xmlns:p14="http://schemas.microsoft.com/office/powerpoint/2010/main" val="3524691563"/>
      </p:ext>
    </p:extLst>
  </p:cSld>
  <p:clrMapOvr>
    <a:masterClrMapping/>
  </p:clrMapOvr>
</p:sld>
</file>

<file path=ppt/theme/theme1.xml><?xml version="1.0" encoding="utf-8"?>
<a:theme xmlns:a="http://schemas.openxmlformats.org/drawingml/2006/main" name="Office Theme [1776090045951]">
  <a:themeElements>
    <a:clrScheme name="Office">
      <a:dk1>
        <a:srgbClr val="0D1B2A"/>
      </a:dk1>
      <a:lt1>
        <a:srgbClr val="F7F9FC"/>
      </a:lt1>
      <a:dk2>
        <a:srgbClr val="1B4F72"/>
      </a:dk2>
      <a:lt2>
        <a:srgbClr val="D6EAF8"/>
      </a:lt2>
      <a:accent1>
        <a:srgbClr val="1A6BAD"/>
      </a:accent1>
      <a:accent2>
        <a:srgbClr val="E74C3C"/>
      </a:accent2>
      <a:accent3>
        <a:srgbClr val="27AE60"/>
      </a:accent3>
      <a:accent4>
        <a:srgbClr val="F39C12"/>
      </a:accent4>
      <a:accent5>
        <a:srgbClr val="8E44AD"/>
      </a:accent5>
      <a:accent6>
        <a:srgbClr val="2E86AB"/>
      </a:accent6>
      <a:hlink>
        <a:srgbClr val="467886"/>
      </a:hlink>
      <a:folHlink>
        <a:srgbClr val="96607D"/>
      </a:folHlink>
    </a:clrScheme>
    <a:fontScheme name="Office">
      <a:majorFont>
        <a:latin typeface="Calibri"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646D5D8-D0BA-8447-A189-E96F39DE02FB}">
  <we:reference id="wa200010001" version="1.0.0.1" store="en-US" storeType="OMEX"/>
  <we:alternateReferences>
    <we:reference id="WA200010001" version="1.0.0.1" store="" storeType="OMEX"/>
  </we:alternateReferences>
  <we:properties>
    <we:property name="claude.fileId" value="&quot;aba57d5a-0389-46d6-b8e5-e96b70792a63&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122</TotalTime>
  <Words>2738</Words>
  <Application>Microsoft Macintosh PowerPoint</Application>
  <PresentationFormat>Widescreen</PresentationFormat>
  <Paragraphs>133</Paragraphs>
  <Slides>12</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 [1776090045951]</vt:lpstr>
      <vt:lpstr>PowerPoint Presentation</vt:lpstr>
      <vt:lpstr>Motivation &amp; Background</vt:lpstr>
      <vt:lpstr>Data Acquisition &amp; Explanation</vt:lpstr>
      <vt:lpstr>Data Acquisition &amp; Explanation</vt:lpstr>
      <vt:lpstr>Analysis Plan &amp; Pipeline</vt:lpstr>
      <vt:lpstr>Tricky Analysis Decision</vt:lpstr>
      <vt:lpstr>Bias &amp; Uncertainty Validation</vt:lpstr>
      <vt:lpstr>Results &amp; Conclusions</vt:lpstr>
      <vt:lpstr>Confusion Matrix</vt:lpstr>
      <vt:lpstr>Next Steps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Neil Parikh</dc:creator>
  <cp:lastModifiedBy>Neil Parikh</cp:lastModifiedBy>
  <cp:revision>11</cp:revision>
  <dcterms:created xsi:type="dcterms:W3CDTF">2026-04-13T14:10:38Z</dcterms:created>
  <dcterms:modified xsi:type="dcterms:W3CDTF">2026-04-20T14:44:02Z</dcterms:modified>
</cp:coreProperties>
</file>